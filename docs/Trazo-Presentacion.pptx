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7A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051560" cy="1051560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1725" y="1471270"/>
            <a:ext cx="115672" cy="-252374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17397" y="1218895"/>
            <a:ext cx="126187" cy="189281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43584" y="1408176"/>
            <a:ext cx="105156" cy="-52578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348740" y="1355598"/>
            <a:ext cx="126187" cy="73609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474927" y="1429207"/>
            <a:ext cx="105156" cy="-189281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580083" y="1239926"/>
            <a:ext cx="115672" cy="-63094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653692" y="1092708"/>
            <a:ext cx="147218" cy="147218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57400" y="8229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68680" y="2331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ESTIMULACIÓN COGNITIVA · PARA CENTROS Y REDES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planifica en minutos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 se mide sola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868680" y="48006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6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Estimulación cognitiva en tablet para centros de día y residencias.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6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usuarias trabajan en la tablet y todo queda medido.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68680" y="598932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5989320"/>
            <a:ext cx="24451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sin contraseñas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88106" y="5989320"/>
            <a:ext cx="2265883" cy="457200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88106" y="5989320"/>
            <a:ext cx="226588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8309" y="598932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128309" y="5989320"/>
            <a:ext cx="24451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protegidos (RGPD)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3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 no sustituye vuestro trabajo:</a:t>
            </a:r>
            <a:endParaRPr lang="en-US" sz="3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33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hace más fácil y a distancia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5257800" cy="2743200"/>
          </a:xfrm>
          <a:prstGeom prst="roundRect">
            <a:avLst>
              <a:gd name="adj" fmla="val 4667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5156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840480"/>
            <a:ext cx="4617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 y acompaña cada sesión.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a mano la evolución de cada persona.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coordina para planificar las actividades.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144768" y="4160520"/>
            <a:ext cx="566928" cy="548640"/>
          </a:xfrm>
          <a:prstGeom prst="rightArrow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99632" y="3063240"/>
            <a:ext cx="5257800" cy="2743200"/>
          </a:xfrm>
          <a:prstGeom prst="roundRect">
            <a:avLst>
              <a:gd name="adj" fmla="val 4667"/>
            </a:avLst>
          </a:prstGeom>
          <a:solidFill>
            <a:srgbClr val="FFFEFB"/>
          </a:solidFill>
          <a:ln w="1905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19672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suma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19672" y="3840480"/>
            <a:ext cx="4617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✓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Eliges nivel y número; el plan se arma solo, en minutos.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✓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se corrige y se mide solo.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✓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el cambio a distancia y avisa; y es digitalización útil.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41248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pasos, y la sesión está lista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73913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73913" y="2182673"/>
            <a:ext cx="15691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Emparejar tablet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6092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6092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20140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20140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504188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04188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888236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888236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29945" y="3367735"/>
            <a:ext cx="1057046" cy="31089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9945" y="3367735"/>
            <a:ext cx="105704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02436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02436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Emparejar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panel. Sin contraseñas.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04872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734056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841041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023921" y="2328977"/>
            <a:ext cx="1203350" cy="457200"/>
          </a:xfrm>
          <a:prstGeom prst="roundRect">
            <a:avLst>
              <a:gd name="adj" fmla="val 16000"/>
            </a:avLst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023921" y="2328977"/>
            <a:ext cx="12033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23921" y="2895905"/>
            <a:ext cx="1203350" cy="457200"/>
          </a:xfrm>
          <a:prstGeom prst="roundRect">
            <a:avLst>
              <a:gd name="adj" fmla="val 16000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023921" y="2895905"/>
            <a:ext cx="12033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69564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369564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642616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Elegir rol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624328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 o Maestra, en cada uso.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901184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008169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191049" y="2941625"/>
            <a:ext cx="46283" cy="-49191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237332" y="2892434"/>
            <a:ext cx="46283" cy="-47358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283614" y="2845076"/>
            <a:ext cx="46283" cy="-4376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329897" y="2801316"/>
            <a:ext cx="46283" cy="-3853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376180" y="2762784"/>
            <a:ext cx="46283" cy="-31869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422462" y="2730915"/>
            <a:ext cx="46283" cy="-24018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68745" y="2706897"/>
            <a:ext cx="46283" cy="-15272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515028" y="2691625"/>
            <a:ext cx="46283" cy="-595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61310" y="2685668"/>
            <a:ext cx="46283" cy="358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607593" y="2689247"/>
            <a:ext cx="46283" cy="1298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653876" y="2702231"/>
            <a:ext cx="46283" cy="2190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700159" y="2724134"/>
            <a:ext cx="46283" cy="3000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5746441" y="2754141"/>
            <a:ext cx="46283" cy="36992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792724" y="2791133"/>
            <a:ext cx="46283" cy="4260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5839007" y="2833733"/>
            <a:ext cx="46283" cy="4662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885289" y="2880352"/>
            <a:ext cx="46283" cy="4890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931572" y="2929255"/>
            <a:ext cx="46283" cy="49364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5977855" y="2978619"/>
            <a:ext cx="46283" cy="47985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6024138" y="3026604"/>
            <a:ext cx="46283" cy="44819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070420" y="3071423"/>
            <a:ext cx="46283" cy="3998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116703" y="3111405"/>
            <a:ext cx="46283" cy="3365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162986" y="3145062"/>
            <a:ext cx="46283" cy="2607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9268" y="3171139"/>
            <a:ext cx="46283" cy="17525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6255551" y="3188664"/>
            <a:ext cx="46283" cy="832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6301834" y="3196984"/>
            <a:ext cx="46283" cy="-1194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348116" y="3195790"/>
            <a:ext cx="46283" cy="-10664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5191049" y="2941625"/>
            <a:ext cx="42117" cy="-63673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5233166" y="2877952"/>
            <a:ext cx="42117" cy="-5967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5275283" y="2818280"/>
            <a:ext cx="42117" cy="-5192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5317401" y="2766359"/>
            <a:ext cx="42117" cy="-4090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5359518" y="2725450"/>
            <a:ext cx="42117" cy="-27326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401635" y="2698124"/>
            <a:ext cx="42117" cy="-12026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443752" y="2686098"/>
            <a:ext cx="42117" cy="403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5485870" y="2690128"/>
            <a:ext cx="42117" cy="1983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527987" y="2709960"/>
            <a:ext cx="42117" cy="3438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5570104" y="2744349"/>
            <a:ext cx="42117" cy="46784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5612221" y="2791133"/>
            <a:ext cx="42117" cy="5624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5654339" y="2847373"/>
            <a:ext cx="42117" cy="6216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696456" y="2909535"/>
            <a:ext cx="42117" cy="6417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5738573" y="2973714"/>
            <a:ext cx="42117" cy="6216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5780690" y="3035876"/>
            <a:ext cx="42117" cy="5624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5822808" y="3092117"/>
            <a:ext cx="42117" cy="46784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5864925" y="3138901"/>
            <a:ext cx="42117" cy="3438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5907042" y="3173289"/>
            <a:ext cx="42117" cy="1983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5949160" y="3193122"/>
            <a:ext cx="42117" cy="403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5991277" y="3197152"/>
            <a:ext cx="42117" cy="-12026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5136185" y="2886761"/>
            <a:ext cx="128016" cy="128016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5008169" y="3440887"/>
            <a:ext cx="15691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la línea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536692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5536692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4809744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juega</a:t>
            </a:r>
            <a:endParaRPr lang="en-US" sz="1500" dirty="0"/>
          </a:p>
        </p:txBody>
      </p:sp>
      <p:sp>
        <p:nvSpPr>
          <p:cNvPr id="86" name="Text 84"/>
          <p:cNvSpPr/>
          <p:nvPr/>
        </p:nvSpPr>
        <p:spPr>
          <a:xfrm>
            <a:off x="4791456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actividad, a pantalla completa.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6739128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7068312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7175297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90" name="Shape 88"/>
          <p:cNvSpPr/>
          <p:nvPr/>
        </p:nvSpPr>
        <p:spPr>
          <a:xfrm>
            <a:off x="7495337" y="2804465"/>
            <a:ext cx="201168" cy="320040"/>
          </a:xfrm>
          <a:prstGeom prst="roundRect">
            <a:avLst>
              <a:gd name="adj" fmla="val 13636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7787945" y="2621585"/>
            <a:ext cx="201168" cy="502920"/>
          </a:xfrm>
          <a:prstGeom prst="roundRect">
            <a:avLst>
              <a:gd name="adj" fmla="val 13636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8080553" y="2438705"/>
            <a:ext cx="201168" cy="685800"/>
          </a:xfrm>
          <a:prstGeom prst="roundRect">
            <a:avLst>
              <a:gd name="adj" fmla="val 13636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8373161" y="2575865"/>
            <a:ext cx="201168" cy="548640"/>
          </a:xfrm>
          <a:prstGeom prst="roundRect">
            <a:avLst>
              <a:gd name="adj" fmla="val 13636"/>
            </a:avLst>
          </a:prstGeom>
          <a:solidFill>
            <a:srgbClr val="C4553A"/>
          </a:solidFill>
          <a:ln/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8177479" y="2347265"/>
            <a:ext cx="310896" cy="310896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8177479" y="234726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7175297" y="3440887"/>
            <a:ext cx="15691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valorar → se mide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7703820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7703820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6976872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Queda medido</a:t>
            </a:r>
            <a:endParaRPr lang="en-US" sz="1500" dirty="0"/>
          </a:p>
        </p:txBody>
      </p:sp>
      <p:sp>
        <p:nvSpPr>
          <p:cNvPr id="100" name="Text 98"/>
          <p:cNvSpPr/>
          <p:nvPr/>
        </p:nvSpPr>
        <p:spPr>
          <a:xfrm>
            <a:off x="6958584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se corrige solo.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8906256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  <p:txBody>
          <a:bodyPr/>
          <a:p/>
        </p:txBody>
      </p:sp>
      <p:sp>
        <p:nvSpPr>
          <p:cNvPr id="102" name="Shape 100"/>
          <p:cNvSpPr/>
          <p:nvPr/>
        </p:nvSpPr>
        <p:spPr>
          <a:xfrm>
            <a:off x="9235440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03" name="Shape 101"/>
          <p:cNvSpPr/>
          <p:nvPr/>
        </p:nvSpPr>
        <p:spPr>
          <a:xfrm>
            <a:off x="9342425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104" name="Shape 102"/>
          <p:cNvSpPr/>
          <p:nvPr/>
        </p:nvSpPr>
        <p:spPr>
          <a:xfrm>
            <a:off x="9543593" y="3090215"/>
            <a:ext cx="256690" cy="-130302"/>
          </a:xfrm>
          <a:prstGeom prst="line">
            <a:avLst/>
          </a:prstGeom>
          <a:noFill/>
          <a:ln w="3175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9800283" y="2959913"/>
            <a:ext cx="233355" cy="17374"/>
          </a:xfrm>
          <a:prstGeom prst="line">
            <a:avLst/>
          </a:prstGeom>
          <a:noFill/>
          <a:ln w="3175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06" name="Shape 104"/>
          <p:cNvSpPr/>
          <p:nvPr/>
        </p:nvSpPr>
        <p:spPr>
          <a:xfrm>
            <a:off x="10033638" y="2977286"/>
            <a:ext cx="233355" cy="-104242"/>
          </a:xfrm>
          <a:prstGeom prst="line">
            <a:avLst/>
          </a:prstGeom>
          <a:noFill/>
          <a:ln w="3175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07" name="Shape 105"/>
          <p:cNvSpPr/>
          <p:nvPr/>
        </p:nvSpPr>
        <p:spPr>
          <a:xfrm>
            <a:off x="10266993" y="2873045"/>
            <a:ext cx="210019" cy="191110"/>
          </a:xfrm>
          <a:prstGeom prst="line">
            <a:avLst/>
          </a:prstGeom>
          <a:noFill/>
          <a:ln w="3175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8" name="Shape 106"/>
          <p:cNvSpPr/>
          <p:nvPr/>
        </p:nvSpPr>
        <p:spPr>
          <a:xfrm>
            <a:off x="10477012" y="3064154"/>
            <a:ext cx="233355" cy="199796"/>
          </a:xfrm>
          <a:prstGeom prst="line">
            <a:avLst/>
          </a:prstGeom>
          <a:noFill/>
          <a:ln w="3175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9" name="Shape 107"/>
          <p:cNvSpPr/>
          <p:nvPr/>
        </p:nvSpPr>
        <p:spPr>
          <a:xfrm>
            <a:off x="9543593" y="3322015"/>
            <a:ext cx="1166774" cy="347472"/>
          </a:xfrm>
          <a:prstGeom prst="roundRect">
            <a:avLst>
              <a:gd name="adj" fmla="val 13158"/>
            </a:avLst>
          </a:prstGeom>
          <a:solidFill>
            <a:srgbClr val="FBEFE4"/>
          </a:solidFill>
          <a:ln w="12700">
            <a:solidFill>
              <a:srgbClr val="F08A6B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9543593" y="3322015"/>
            <a:ext cx="116677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detectado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9870948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9870948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800" dirty="0"/>
          </a:p>
        </p:txBody>
      </p:sp>
      <p:sp>
        <p:nvSpPr>
          <p:cNvPr id="113" name="Text 111"/>
          <p:cNvSpPr/>
          <p:nvPr/>
        </p:nvSpPr>
        <p:spPr>
          <a:xfrm>
            <a:off x="9144000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equipo revisa</a:t>
            </a:r>
            <a:endParaRPr lang="en-US" sz="1500" dirty="0"/>
          </a:p>
        </p:txBody>
      </p:sp>
      <p:sp>
        <p:nvSpPr>
          <p:cNvPr id="114" name="Text 112"/>
          <p:cNvSpPr/>
          <p:nvPr/>
        </p:nvSpPr>
        <p:spPr>
          <a:xfrm>
            <a:off x="9125712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y alertas en el panel.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JUEGA · 1 DE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Trazo: sigue la línea con el dedo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309360" cy="4297680"/>
          </a:xfrm>
          <a:prstGeom prst="roundRect">
            <a:avLst>
              <a:gd name="adj" fmla="val 3830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05256" y="2002536"/>
            <a:ext cx="6053328" cy="4041648"/>
          </a:xfrm>
          <a:prstGeom prst="roundRect">
            <a:avLst>
              <a:gd name="adj" fmla="val 1810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61288" y="225856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26576" y="2512040"/>
            <a:ext cx="42245" cy="-9217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68821" y="2419868"/>
            <a:ext cx="46086" cy="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14907" y="2488997"/>
            <a:ext cx="38405" cy="-1920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353312" y="2469794"/>
            <a:ext cx="46086" cy="2688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99398" y="2496678"/>
            <a:ext cx="38405" cy="-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37803" y="2427549"/>
            <a:ext cx="42245" cy="-2304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464686" y="2373782"/>
            <a:ext cx="53767" cy="53767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36776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18504" y="2276856"/>
            <a:ext cx="384048" cy="384048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79576" y="2825496"/>
            <a:ext cx="5504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la línea con el dedo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08176" y="4545482"/>
            <a:ext cx="84125" cy="-6688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492301" y="4478601"/>
            <a:ext cx="84125" cy="-6635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576426" y="4412249"/>
            <a:ext cx="84125" cy="-6529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660550" y="4346953"/>
            <a:ext cx="84125" cy="-6372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744675" y="4283228"/>
            <a:ext cx="84125" cy="-6164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828800" y="4221579"/>
            <a:ext cx="84125" cy="-5908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912925" y="4162496"/>
            <a:ext cx="84125" cy="-5605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97050" y="4106444"/>
            <a:ext cx="84125" cy="-5257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081174" y="4053869"/>
            <a:ext cx="84125" cy="-4868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165299" y="4005187"/>
            <a:ext cx="84125" cy="-4440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249424" y="3960782"/>
            <a:ext cx="84125" cy="-3977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333549" y="3921007"/>
            <a:ext cx="84125" cy="-3483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417674" y="3886177"/>
            <a:ext cx="84125" cy="-2961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501798" y="3856567"/>
            <a:ext cx="84125" cy="-2415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585923" y="3832411"/>
            <a:ext cx="84125" cy="-1850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670048" y="3813902"/>
            <a:ext cx="84125" cy="-1271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754173" y="3801185"/>
            <a:ext cx="84125" cy="-682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838298" y="3794362"/>
            <a:ext cx="84125" cy="-87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922422" y="3793485"/>
            <a:ext cx="84125" cy="507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006547" y="3798563"/>
            <a:ext cx="84125" cy="1099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090672" y="3809555"/>
            <a:ext cx="84125" cy="1681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174797" y="3826374"/>
            <a:ext cx="84125" cy="2251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58922" y="3848887"/>
            <a:ext cx="84125" cy="2802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343046" y="3876915"/>
            <a:ext cx="84125" cy="3332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427171" y="3910237"/>
            <a:ext cx="84125" cy="3835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511296" y="3948588"/>
            <a:ext cx="84125" cy="4307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595421" y="3991666"/>
            <a:ext cx="84125" cy="4746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679546" y="4039129"/>
            <a:ext cx="84125" cy="5147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3763670" y="4090601"/>
            <a:ext cx="84125" cy="5507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3847795" y="4145675"/>
            <a:ext cx="84125" cy="5823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931920" y="4203914"/>
            <a:ext cx="84125" cy="6094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4016045" y="4264858"/>
            <a:ext cx="84125" cy="6316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00170" y="4328024"/>
            <a:ext cx="84125" cy="6488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84294" y="4392912"/>
            <a:ext cx="84125" cy="6609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4268419" y="4459007"/>
            <a:ext cx="84125" cy="6678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4352544" y="4525788"/>
            <a:ext cx="84125" cy="6693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436669" y="4592724"/>
            <a:ext cx="84125" cy="6656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4520794" y="4659286"/>
            <a:ext cx="84125" cy="6566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604918" y="4724947"/>
            <a:ext cx="84125" cy="6424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689043" y="4789188"/>
            <a:ext cx="84125" cy="6231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4773168" y="4851498"/>
            <a:ext cx="84125" cy="5988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4857293" y="4911386"/>
            <a:ext cx="84125" cy="5699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4941418" y="4968376"/>
            <a:ext cx="84125" cy="5364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5025542" y="5022018"/>
            <a:ext cx="84125" cy="4986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5109667" y="5071887"/>
            <a:ext cx="84125" cy="4570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5193792" y="5117588"/>
            <a:ext cx="84125" cy="4117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5277917" y="5158759"/>
            <a:ext cx="84125" cy="3631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5362042" y="5195074"/>
            <a:ext cx="84125" cy="3117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5446166" y="5226246"/>
            <a:ext cx="84125" cy="2578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530291" y="5252027"/>
            <a:ext cx="84125" cy="2018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614416" y="5272214"/>
            <a:ext cx="84125" cy="1443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5698541" y="5286647"/>
            <a:ext cx="84125" cy="856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782666" y="5295212"/>
            <a:ext cx="84125" cy="262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5866790" y="5297840"/>
            <a:ext cx="84125" cy="-332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5950915" y="5294512"/>
            <a:ext cx="84125" cy="-925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035040" y="5285252"/>
            <a:ext cx="84125" cy="-1511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6119165" y="5270135"/>
            <a:ext cx="84125" cy="-2085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6203290" y="5249281"/>
            <a:ext cx="84125" cy="-2642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6287414" y="5222854"/>
            <a:ext cx="84125" cy="-3179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371539" y="5191063"/>
            <a:ext cx="84125" cy="-3690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1408176" y="4545482"/>
            <a:ext cx="78236" cy="-100156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1486412" y="4445326"/>
            <a:ext cx="78236" cy="-9837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1564648" y="4346953"/>
            <a:ext cx="78236" cy="-9484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1642884" y="4252113"/>
            <a:ext cx="78236" cy="-8961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1721120" y="4162496"/>
            <a:ext cx="78236" cy="-8280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1799356" y="4079696"/>
            <a:ext cx="78236" cy="-7450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1877592" y="4005187"/>
            <a:ext cx="78236" cy="-64891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1955828" y="3940296"/>
            <a:ext cx="78236" cy="-5411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2034065" y="3886177"/>
            <a:ext cx="78236" cy="-4238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2112301" y="3843794"/>
            <a:ext cx="78236" cy="-29892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2190537" y="3813902"/>
            <a:ext cx="78236" cy="-1687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2268773" y="3797032"/>
            <a:ext cx="78236" cy="-354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2347009" y="3793485"/>
            <a:ext cx="78236" cy="983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0" name="Shape 88"/>
          <p:cNvSpPr/>
          <p:nvPr/>
        </p:nvSpPr>
        <p:spPr>
          <a:xfrm>
            <a:off x="2425245" y="3803324"/>
            <a:ext cx="78236" cy="2305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2503481" y="3826374"/>
            <a:ext cx="78236" cy="3585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2" name="Shape 90"/>
          <p:cNvSpPr/>
          <p:nvPr/>
        </p:nvSpPr>
        <p:spPr>
          <a:xfrm>
            <a:off x="2581717" y="3862224"/>
            <a:ext cx="78236" cy="4801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2659953" y="3910237"/>
            <a:ext cx="78236" cy="5932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2738189" y="3969557"/>
            <a:ext cx="78236" cy="69572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5" name="Shape 93"/>
          <p:cNvSpPr/>
          <p:nvPr/>
        </p:nvSpPr>
        <p:spPr>
          <a:xfrm>
            <a:off x="2816425" y="4039129"/>
            <a:ext cx="78236" cy="78585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6" name="Shape 94"/>
          <p:cNvSpPr/>
          <p:nvPr/>
        </p:nvSpPr>
        <p:spPr>
          <a:xfrm>
            <a:off x="2894661" y="4117714"/>
            <a:ext cx="78236" cy="8620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7" name="Shape 95"/>
          <p:cNvSpPr/>
          <p:nvPr/>
        </p:nvSpPr>
        <p:spPr>
          <a:xfrm>
            <a:off x="2972897" y="4203914"/>
            <a:ext cx="78236" cy="9228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8" name="Shape 96"/>
          <p:cNvSpPr/>
          <p:nvPr/>
        </p:nvSpPr>
        <p:spPr>
          <a:xfrm>
            <a:off x="3051133" y="4296194"/>
            <a:ext cx="78236" cy="9671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99" name="Shape 97"/>
          <p:cNvSpPr/>
          <p:nvPr/>
        </p:nvSpPr>
        <p:spPr>
          <a:xfrm>
            <a:off x="3129369" y="4392912"/>
            <a:ext cx="78236" cy="9943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3207605" y="4492345"/>
            <a:ext cx="78236" cy="10037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1" name="Shape 99"/>
          <p:cNvSpPr/>
          <p:nvPr/>
        </p:nvSpPr>
        <p:spPr>
          <a:xfrm>
            <a:off x="3285842" y="4592724"/>
            <a:ext cx="78236" cy="99538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2" name="Shape 100"/>
          <p:cNvSpPr/>
          <p:nvPr/>
        </p:nvSpPr>
        <p:spPr>
          <a:xfrm>
            <a:off x="3364078" y="4692262"/>
            <a:ext cx="78236" cy="96925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3" name="Shape 101"/>
          <p:cNvSpPr/>
          <p:nvPr/>
        </p:nvSpPr>
        <p:spPr>
          <a:xfrm>
            <a:off x="3442314" y="4789188"/>
            <a:ext cx="78236" cy="9258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4" name="Shape 102"/>
          <p:cNvSpPr/>
          <p:nvPr/>
        </p:nvSpPr>
        <p:spPr>
          <a:xfrm>
            <a:off x="3520550" y="4881775"/>
            <a:ext cx="78236" cy="86601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3598786" y="4968376"/>
            <a:ext cx="78236" cy="7907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6" name="Shape 104"/>
          <p:cNvSpPr/>
          <p:nvPr/>
        </p:nvSpPr>
        <p:spPr>
          <a:xfrm>
            <a:off x="3677022" y="5047450"/>
            <a:ext cx="78236" cy="70138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7" name="Shape 105"/>
          <p:cNvSpPr/>
          <p:nvPr/>
        </p:nvSpPr>
        <p:spPr>
          <a:xfrm>
            <a:off x="3755258" y="5117588"/>
            <a:ext cx="78236" cy="59954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8" name="Shape 106"/>
          <p:cNvSpPr/>
          <p:nvPr/>
        </p:nvSpPr>
        <p:spPr>
          <a:xfrm>
            <a:off x="3833494" y="5177542"/>
            <a:ext cx="78236" cy="4870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09" name="Shape 107"/>
          <p:cNvSpPr/>
          <p:nvPr/>
        </p:nvSpPr>
        <p:spPr>
          <a:xfrm>
            <a:off x="3911730" y="5226246"/>
            <a:ext cx="78236" cy="36586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0" name="Shape 108"/>
          <p:cNvSpPr/>
          <p:nvPr/>
        </p:nvSpPr>
        <p:spPr>
          <a:xfrm>
            <a:off x="3989966" y="5262831"/>
            <a:ext cx="78236" cy="23816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1" name="Shape 109"/>
          <p:cNvSpPr/>
          <p:nvPr/>
        </p:nvSpPr>
        <p:spPr>
          <a:xfrm>
            <a:off x="4068202" y="5286647"/>
            <a:ext cx="78236" cy="1062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2" name="Shape 110"/>
          <p:cNvSpPr/>
          <p:nvPr/>
        </p:nvSpPr>
        <p:spPr>
          <a:xfrm>
            <a:off x="4146438" y="5297271"/>
            <a:ext cx="78236" cy="-275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3" name="Shape 111"/>
          <p:cNvSpPr/>
          <p:nvPr/>
        </p:nvSpPr>
        <p:spPr>
          <a:xfrm>
            <a:off x="4224674" y="5294512"/>
            <a:ext cx="78236" cy="-16092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4" name="Shape 112"/>
          <p:cNvSpPr/>
          <p:nvPr/>
        </p:nvSpPr>
        <p:spPr>
          <a:xfrm>
            <a:off x="4302910" y="5278420"/>
            <a:ext cx="78236" cy="-2913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5" name="Shape 113"/>
          <p:cNvSpPr/>
          <p:nvPr/>
        </p:nvSpPr>
        <p:spPr>
          <a:xfrm>
            <a:off x="4381146" y="5249281"/>
            <a:ext cx="78236" cy="-4166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6" name="Shape 114"/>
          <p:cNvSpPr/>
          <p:nvPr/>
        </p:nvSpPr>
        <p:spPr>
          <a:xfrm>
            <a:off x="4459382" y="5207614"/>
            <a:ext cx="78236" cy="-5345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17" name="Shape 115"/>
          <p:cNvSpPr/>
          <p:nvPr/>
        </p:nvSpPr>
        <p:spPr>
          <a:xfrm>
            <a:off x="1289304" y="4426610"/>
            <a:ext cx="237744" cy="237744"/>
          </a:xfrm>
          <a:prstGeom prst="ellipse">
            <a:avLst/>
          </a:prstGeom>
          <a:solidFill>
            <a:srgbClr val="1F7A70"/>
          </a:solidFill>
          <a:ln w="2540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18" name="Shape 116"/>
          <p:cNvSpPr/>
          <p:nvPr/>
        </p:nvSpPr>
        <p:spPr>
          <a:xfrm>
            <a:off x="923544" y="4746650"/>
            <a:ext cx="502920" cy="310896"/>
          </a:xfrm>
          <a:prstGeom prst="rightArrow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119" name="Text 117"/>
          <p:cNvSpPr/>
          <p:nvPr/>
        </p:nvSpPr>
        <p:spPr>
          <a:xfrm>
            <a:off x="859536" y="507583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aquí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7452360" y="201168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· TRAZO</a:t>
            </a:r>
            <a:endParaRPr lang="en-US" sz="1200" dirty="0"/>
          </a:p>
        </p:txBody>
      </p:sp>
      <p:sp>
        <p:nvSpPr>
          <p:cNvPr id="121" name="Text 119"/>
          <p:cNvSpPr/>
          <p:nvPr/>
        </p:nvSpPr>
        <p:spPr>
          <a:xfrm>
            <a:off x="7452360" y="233172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Sigue la línea</a:t>
            </a:r>
            <a:endParaRPr lang="en-US" sz="2400" dirty="0"/>
          </a:p>
        </p:txBody>
      </p:sp>
      <p:sp>
        <p:nvSpPr>
          <p:cNvPr id="122" name="Text 120"/>
          <p:cNvSpPr/>
          <p:nvPr/>
        </p:nvSpPr>
        <p:spPr>
          <a:xfrm>
            <a:off x="7452360" y="2971800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 guía punteada marca el camino. La persona empieza en el punto y la recorre; se corrige sola según cuánto se ajusta.</a:t>
            </a:r>
            <a:endParaRPr lang="en-US" sz="1550" dirty="0"/>
          </a:p>
        </p:txBody>
      </p:sp>
      <p:sp>
        <p:nvSpPr>
          <p:cNvPr id="123" name="Shape 121"/>
          <p:cNvSpPr/>
          <p:nvPr/>
        </p:nvSpPr>
        <p:spPr>
          <a:xfrm>
            <a:off x="7452360" y="429768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7708392" y="45262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MIDE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7708392" y="4828032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mano-ojo y control motor fino (praxias).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JUEGA · 2 DE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Selección: señala el que no encaja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309360" cy="4297680"/>
          </a:xfrm>
          <a:prstGeom prst="roundRect">
            <a:avLst>
              <a:gd name="adj" fmla="val 3830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05256" y="2002536"/>
            <a:ext cx="6053328" cy="4041648"/>
          </a:xfrm>
          <a:prstGeom prst="roundRect">
            <a:avLst>
              <a:gd name="adj" fmla="val 1810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61288" y="225856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26576" y="2512040"/>
            <a:ext cx="42245" cy="-9217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68821" y="2419868"/>
            <a:ext cx="46086" cy="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14907" y="2488997"/>
            <a:ext cx="38405" cy="-1920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353312" y="2469794"/>
            <a:ext cx="46086" cy="2688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99398" y="2496678"/>
            <a:ext cx="38405" cy="-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37803" y="2427549"/>
            <a:ext cx="42245" cy="-2304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464686" y="2373782"/>
            <a:ext cx="53767" cy="53767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36776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18504" y="2276856"/>
            <a:ext cx="384048" cy="384048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79576" y="2825496"/>
            <a:ext cx="5504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no es una fruta como las demás?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79576" y="3328416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1524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242657" y="3659977"/>
            <a:ext cx="443301" cy="443301"/>
          </a:xfrm>
          <a:prstGeom prst="ellipse">
            <a:avLst/>
          </a:prstGeom>
          <a:solidFill>
            <a:srgbClr val="C0492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 rot="20400000">
            <a:off x="2486473" y="3549152"/>
            <a:ext cx="243816" cy="132990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464308" y="3626730"/>
            <a:ext cx="0" cy="110825"/>
          </a:xfrm>
          <a:prstGeom prst="line">
            <a:avLst/>
          </a:prstGeom>
          <a:noFill/>
          <a:ln w="17780">
            <a:solidFill>
              <a:srgbClr val="8A562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114800" y="3328416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1524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177881" y="3659977"/>
            <a:ext cx="443301" cy="443301"/>
          </a:xfrm>
          <a:prstGeom prst="ellipse">
            <a:avLst/>
          </a:prstGeom>
          <a:solidFill>
            <a:srgbClr val="C0492F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20400000">
            <a:off x="5421697" y="3549152"/>
            <a:ext cx="243816" cy="132990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399532" y="3626730"/>
            <a:ext cx="0" cy="110825"/>
          </a:xfrm>
          <a:prstGeom prst="line">
            <a:avLst/>
          </a:prstGeom>
          <a:noFill/>
          <a:ln w="17780">
            <a:solidFill>
              <a:srgbClr val="8A562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179576" y="4617720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1524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242657" y="4949281"/>
            <a:ext cx="443301" cy="443301"/>
          </a:xfrm>
          <a:prstGeom prst="ellipse">
            <a:avLst/>
          </a:prstGeom>
          <a:solidFill>
            <a:srgbClr val="C0492F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 rot="20400000">
            <a:off x="2486473" y="4838456"/>
            <a:ext cx="243816" cy="132990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464308" y="4916034"/>
            <a:ext cx="0" cy="110825"/>
          </a:xfrm>
          <a:prstGeom prst="line">
            <a:avLst/>
          </a:prstGeom>
          <a:noFill/>
          <a:ln w="17780">
            <a:solidFill>
              <a:srgbClr val="8A5628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114800" y="4617720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44450">
            <a:solidFill>
              <a:srgbClr val="1F7A70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14900" y="4512564"/>
            <a:ext cx="969264" cy="457200"/>
          </a:xfrm>
          <a:prstGeom prst="triangle">
            <a:avLst/>
          </a:prstGeom>
          <a:solidFill>
            <a:srgbClr val="C4553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988052" y="4969764"/>
            <a:ext cx="822960" cy="566928"/>
          </a:xfrm>
          <a:prstGeom prst="rect">
            <a:avLst/>
          </a:prstGeom>
          <a:solidFill>
            <a:srgbClr val="E3C24F"/>
          </a:solidFill>
          <a:ln w="19050">
            <a:solidFill>
              <a:srgbClr val="C69A34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289804" y="5189220"/>
            <a:ext cx="219456" cy="347472"/>
          </a:xfrm>
          <a:prstGeom prst="rect">
            <a:avLst/>
          </a:prstGeom>
          <a:solidFill>
            <a:srgbClr val="8A5628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300216" y="4709160"/>
            <a:ext cx="310896" cy="310896"/>
          </a:xfrm>
          <a:prstGeom prst="ellipse">
            <a:avLst/>
          </a:prstGeom>
          <a:solidFill>
            <a:srgbClr val="1F7A70"/>
          </a:solidFill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300216" y="47091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52360" y="201168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· SELECCIÓN MÚLTIPLE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452360" y="233172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intruso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7452360" y="2971800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rejilla de tarjetas con figuras reconocibles. La persona toca la que no pertenece al grupo; la respuesta correcta queda marcada.</a:t>
            </a:r>
            <a:endParaRPr lang="en-US" sz="1550" dirty="0"/>
          </a:p>
        </p:txBody>
      </p:sp>
      <p:sp>
        <p:nvSpPr>
          <p:cNvPr id="38" name="Shape 36"/>
          <p:cNvSpPr/>
          <p:nvPr/>
        </p:nvSpPr>
        <p:spPr>
          <a:xfrm>
            <a:off x="7452360" y="429768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708392" y="45262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MIDE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4828032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Razonamiento y categorización.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JUEGA · 3 DE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Dinero: guarda las monedas y suma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309360" cy="4297680"/>
          </a:xfrm>
          <a:prstGeom prst="roundRect">
            <a:avLst>
              <a:gd name="adj" fmla="val 3830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05256" y="2002536"/>
            <a:ext cx="6053328" cy="4041648"/>
          </a:xfrm>
          <a:prstGeom prst="roundRect">
            <a:avLst>
              <a:gd name="adj" fmla="val 1810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61288" y="225856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26576" y="2512040"/>
            <a:ext cx="42245" cy="-9217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68821" y="2419868"/>
            <a:ext cx="46086" cy="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14907" y="2488997"/>
            <a:ext cx="38405" cy="-1920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353312" y="2469794"/>
            <a:ext cx="46086" cy="2688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99398" y="2496678"/>
            <a:ext cx="38405" cy="-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37803" y="2427549"/>
            <a:ext cx="42245" cy="-2304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464686" y="2373782"/>
            <a:ext cx="53767" cy="53767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36776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18504" y="2276856"/>
            <a:ext cx="384048" cy="384048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79576" y="2825496"/>
            <a:ext cx="5504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las monedas en el monedero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08176" y="3977640"/>
            <a:ext cx="914400" cy="914400"/>
          </a:xfrm>
          <a:prstGeom prst="ellipse">
            <a:avLst/>
          </a:prstGeom>
          <a:solidFill>
            <a:srgbClr val="E3B84F"/>
          </a:solidFill>
          <a:ln w="19050">
            <a:solidFill>
              <a:srgbClr val="C69A34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81912" y="4151376"/>
            <a:ext cx="566928" cy="566928"/>
          </a:xfrm>
          <a:prstGeom prst="ellipse">
            <a:avLst/>
          </a:prstGeom>
          <a:solidFill>
            <a:srgbClr val="CBD1D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408176" y="41833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A56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2€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2596896" y="4251960"/>
            <a:ext cx="731520" cy="731520"/>
          </a:xfrm>
          <a:prstGeom prst="ellipse">
            <a:avLst/>
          </a:prstGeom>
          <a:solidFill>
            <a:srgbClr val="E3B84F"/>
          </a:solidFill>
          <a:ln w="19050">
            <a:solidFill>
              <a:srgbClr val="C69A3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735885" y="4390949"/>
            <a:ext cx="453542" cy="453542"/>
          </a:xfrm>
          <a:prstGeom prst="ellipse">
            <a:avLst/>
          </a:prstGeom>
          <a:solidFill>
            <a:srgbClr val="CBD1D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596896" y="4416552"/>
            <a:ext cx="731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8A56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1€</a:t>
            </a:r>
            <a:endParaRPr lang="en-US" sz="2160" dirty="0"/>
          </a:p>
        </p:txBody>
      </p:sp>
      <p:sp>
        <p:nvSpPr>
          <p:cNvPr id="23" name="Shape 21"/>
          <p:cNvSpPr/>
          <p:nvPr/>
        </p:nvSpPr>
        <p:spPr>
          <a:xfrm>
            <a:off x="3648456" y="4325112"/>
            <a:ext cx="548640" cy="365760"/>
          </a:xfrm>
          <a:prstGeom prst="rightArrow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425696" y="3931920"/>
            <a:ext cx="1554480" cy="1143000"/>
          </a:xfrm>
          <a:prstGeom prst="roundRect">
            <a:avLst>
              <a:gd name="adj" fmla="val 28000"/>
            </a:avLst>
          </a:prstGeom>
          <a:solidFill>
            <a:srgbClr val="B0703B"/>
          </a:solidFill>
          <a:ln w="25400">
            <a:solidFill>
              <a:srgbClr val="8A562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001768" y="3886200"/>
            <a:ext cx="402336" cy="274320"/>
          </a:xfrm>
          <a:prstGeom prst="roundRect">
            <a:avLst>
              <a:gd name="adj" fmla="val 20000"/>
            </a:avLst>
          </a:prstGeom>
          <a:solidFill>
            <a:srgbClr val="E3B84F"/>
          </a:solidFill>
          <a:ln w="19050">
            <a:solidFill>
              <a:srgbClr val="C69A34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926080" y="5449824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E8F5F2"/>
          </a:solidFill>
          <a:ln w="1905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926080" y="5449824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Llevas: 3 €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452360" y="201168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· MANEJO DE CANTIDAD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52360" y="233172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Manejo de dinero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452360" y="2971800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Monedas de euro reconocibles. La persona las lleva al monedero y el importe acumulado se va sumando a la vista.</a:t>
            </a:r>
            <a:endParaRPr lang="en-US" sz="1550" dirty="0"/>
          </a:p>
        </p:txBody>
      </p:sp>
      <p:sp>
        <p:nvSpPr>
          <p:cNvPr id="31" name="Shape 29"/>
          <p:cNvSpPr/>
          <p:nvPr/>
        </p:nvSpPr>
        <p:spPr>
          <a:xfrm>
            <a:off x="7452360" y="429768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708392" y="45262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MIDE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08392" y="4828032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básico y autonomía en la vida diaria.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EJERCICIOS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41248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Ocho plantillas, unas 2.800 actividades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7180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53212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53212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4924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4924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motor fino (praxias)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78124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34156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4156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15868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Selección múltiple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15868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Razonar y categorizar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59068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515100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15100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96812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Memoria visual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6812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Retener y recordar figuras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40012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496044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96044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77756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Búsqueda visual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477756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y percepción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97180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53212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53212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34924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Secuencia · ordenar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4924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una secuencia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78124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534156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34156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3515868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Arrastrar por toque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15868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cada cosa en su sitio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59068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515100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15100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496812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Conteo · comparación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96812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numérica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9240012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496044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496044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💶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9477756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Manejo de cantidad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477756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Dinero y reloj · vida diaria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DEL CENTRO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96112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Ves cómo evoluciona cada persona — y te avisa si algo cambia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766560" cy="4206240"/>
          </a:xfrm>
          <a:prstGeom prst="roundRect">
            <a:avLst>
              <a:gd name="adj" fmla="val 304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27000" dist="50800" dir="5400000">
              <a:srgbClr val="BBCFC9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4300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Carmen 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66360" y="22037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últimas 8 semanas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26243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· comparado con su propia base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280160" y="4039362"/>
            <a:ext cx="5760720" cy="0"/>
          </a:xfrm>
          <a:prstGeom prst="line">
            <a:avLst/>
          </a:prstGeom>
          <a:noFill/>
          <a:ln w="12700">
            <a:solidFill>
              <a:srgbClr val="D2E6E2"/>
            </a:solidFill>
            <a:prstDash val="dash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280160" y="3842766"/>
            <a:ext cx="921715" cy="-137617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201875" y="3705149"/>
            <a:ext cx="921715" cy="39319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23590" y="3744468"/>
            <a:ext cx="921715" cy="-117958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045306" y="3626510"/>
            <a:ext cx="921715" cy="58979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967021" y="3685489"/>
            <a:ext cx="806501" cy="-19660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73522" y="3665830"/>
            <a:ext cx="691286" cy="90434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64808" y="4570171"/>
            <a:ext cx="576072" cy="39319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207008" y="3769614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128723" y="3631997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050438" y="3671316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972154" y="3553358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893869" y="3612337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700370" y="3592678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64224" y="4469587"/>
            <a:ext cx="201168" cy="201168"/>
          </a:xfrm>
          <a:prstGeom prst="ellipse">
            <a:avLst/>
          </a:prstGeom>
          <a:solidFill>
            <a:srgbClr val="C4553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940296" y="4862779"/>
            <a:ext cx="201168" cy="201168"/>
          </a:xfrm>
          <a:prstGeom prst="ellipse">
            <a:avLst/>
          </a:prstGeom>
          <a:solidFill>
            <a:srgbClr val="C4553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143000" y="5120640"/>
            <a:ext cx="6035040" cy="685800"/>
          </a:xfrm>
          <a:prstGeom prst="roundRect">
            <a:avLst>
              <a:gd name="adj" fmla="val 13333"/>
            </a:avLst>
          </a:prstGeom>
          <a:solidFill>
            <a:srgbClr val="FBEFE4"/>
          </a:solidFill>
          <a:ln w="15240">
            <a:solidFill>
              <a:srgbClr val="F08A6B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344168" y="5367528"/>
            <a:ext cx="164592" cy="164592"/>
          </a:xfrm>
          <a:prstGeom prst="ellipse">
            <a:avLst/>
          </a:prstGeom>
          <a:solidFill>
            <a:srgbClr val="C4553A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645920" y="523036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detectado estas 2 sesiones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645920" y="54864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sale de su rango habitual — conviene revisarlo con calma. No es un diagnóstico.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55280" y="199339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037576" y="207568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366760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Nace “sin valorar”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6676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puntúa hasta que el equipo lo revisa. No tocar nada no es fallar.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955280" y="304495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8037576" y="312724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366760" y="297180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Cada persona, consigo misma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366760" y="32918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compara con su propio histórico, nunca con otras.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955280" y="409651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8037576" y="417880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66760" y="40233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Avisa de cambios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66760" y="43434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baja de forma sostenida, salta una alerta suave.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955280" y="514807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037576" y="523036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366760" y="50749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es diagnóstico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366760" y="539496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desempeño en las actividades. No es producto sanitario.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DIGNIDAD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9611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Pensado para la persona usuaria más frágil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221284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22128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91056" y="223113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Objetivos táctiles grandes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8096" y="2971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amplios; nada diminuto que cueste acertar.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08576" y="221284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08576" y="22128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31536" y="223113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Alto contraste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8576" y="2971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legible con baja visión (contraste ≥ 4.5:1).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74736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449056" y="221284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49056" y="22128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72016" y="223113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Háptico y voz alta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49056" y="2971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Vibración en cada toque y locución del enunciado.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" y="4069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68096" y="436168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68096" y="43616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91056" y="437997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Sin menús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8096" y="5120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actividad a pantalla completa; nadie se queda atrapado.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34256" y="4069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608576" y="436168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608576" y="43616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31536" y="437997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Funciona sin conexión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08576" y="5120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cuando vuelve la red; no depende de wifi.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74736" y="4069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449056" y="436168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449056" y="43616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272016" y="437997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Datos protegidos (RGPD)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49056" y="5120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Pseudonimizado; el nombre real se guarda aparte.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Y PRECIOS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9611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 modelo claro, todo el equipo incluido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63040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del centro entra completo: terapeutas ocupacionales, integradoras sociales y psicología, sin límite de profesionales.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9496" y="2377440"/>
            <a:ext cx="3429000" cy="3794760"/>
          </a:xfrm>
          <a:prstGeom prst="roundRect">
            <a:avLst>
              <a:gd name="adj" fmla="val 42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5256" y="3035808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0 €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05256" y="367588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5256" y="4114800"/>
            <a:ext cx="26517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personas usuarias reales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formación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permanencia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9976" y="2194560"/>
            <a:ext cx="3429000" cy="4160520"/>
          </a:xfrm>
          <a:prstGeom prst="roundRect">
            <a:avLst>
              <a:gd name="adj" fmla="val 4267"/>
            </a:avLst>
          </a:prstGeom>
          <a:solidFill>
            <a:srgbClr val="FFFEFB"/>
          </a:solidFill>
          <a:ln w="38100">
            <a:solidFill>
              <a:srgbClr val="12A99B"/>
            </a:solidFill>
            <a:prstDash val="solid"/>
          </a:ln>
          <a:effectLst>
            <a:outerShdw sx="100000" sy="100000" kx="0" ky="0" algn="bl" rotWithShape="0" blurRad="152400" dist="63500" dir="5400000">
              <a:srgbClr val="AFCEC8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317236" y="20116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17236" y="20116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45736" y="25603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45736" y="2852928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125 € / mes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349300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centro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45736" y="3931920"/>
            <a:ext cx="265176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equipo incluido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límite de profesionales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personas activas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de más: +3 €/mes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0456" y="2377440"/>
            <a:ext cx="3429000" cy="3794760"/>
          </a:xfrm>
          <a:prstGeom prst="roundRect">
            <a:avLst>
              <a:gd name="adj" fmla="val 42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586216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86216" y="3035808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medida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586216" y="367588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centros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86216" y="4114800"/>
            <a:ext cx="26517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cadenas y redes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consolidada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dedicado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7A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5836" y="1371600"/>
            <a:ext cx="1097280" cy="1097280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732374" y="2095805"/>
            <a:ext cx="120701" cy="-263347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853074" y="1832458"/>
            <a:ext cx="131674" cy="197510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84748" y="2029968"/>
            <a:ext cx="109728" cy="-54864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094476" y="1975104"/>
            <a:ext cx="131674" cy="76810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226150" y="2051914"/>
            <a:ext cx="109728" cy="-197510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335878" y="1854403"/>
            <a:ext cx="120701" cy="-65837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12687" y="1700784"/>
            <a:ext cx="153619" cy="153619"/>
          </a:xfrm>
          <a:prstGeom prst="ellipse">
            <a:avLst/>
          </a:prstGeom>
          <a:solidFill>
            <a:srgbClr val="F08A6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Solicita una demo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piloto sin coste, con personas usuarias reales y sin permanencia.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991356" y="4617720"/>
            <a:ext cx="4206240" cy="658368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991356" y="4617720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saulodlsf@gmail.com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C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· estimulación cognitiva para centros de día y residencias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2026-08-25T14:49:18Z</dcterms:created>
  <dcterms:modified xsi:type="dcterms:W3CDTF">2026-08-25T14:49:18Z</dcterms:modified>
</cp:coreProperties>
</file>