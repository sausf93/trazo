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6858000" cy="68580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3291840"/>
            <a:ext cx="4754880" cy="4754880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12A99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886968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81328" y="749808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22960" y="19659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Estimulación cognitiva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" y="23317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planifica en minutos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 se mide sola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22960" y="452628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centros de día y residencias de mayores. Eliges nivel y número de ejercicios por persona y Trazo arma el plan; las personas trabajan en tablet y todo queda medido.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5715000"/>
            <a:ext cx="2161642" cy="40233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 w="12700">
            <a:solidFill>
              <a:srgbClr val="12A99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715000"/>
            <a:ext cx="216164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sin contraseñas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185770" y="5715000"/>
            <a:ext cx="2000707" cy="40233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 w="12700">
            <a:solidFill>
              <a:srgbClr val="12A9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85770" y="5715000"/>
            <a:ext cx="200070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87645" y="5715000"/>
            <a:ext cx="2161642" cy="40233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 w="12700">
            <a:solidFill>
              <a:srgbClr val="12A99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87645" y="5715000"/>
            <a:ext cx="216164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protegidos · RGPD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estimulación cognitiva sigue siendo lenta, tardía y cara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01568" cy="3383280"/>
          </a:xfrm>
          <a:prstGeom prst="roundRect">
            <a:avLst>
              <a:gd name="adj" fmla="val 378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07008" y="269748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4178" y="29146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3703320"/>
            <a:ext cx="2633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monta a mano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07008" y="4251960"/>
            <a:ext cx="26334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cada sesión ejercicio a ejercicio se lleva una tarde. El tiempo del equipo se va en logística, no en acompañar.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35424" y="2286000"/>
            <a:ext cx="3401568" cy="3383280"/>
          </a:xfrm>
          <a:prstGeom prst="roundRect">
            <a:avLst>
              <a:gd name="adj" fmla="val 378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9472" y="269748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642" y="291465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19472" y="3703320"/>
            <a:ext cx="2633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cambio se ve tarde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919472" y="4251960"/>
            <a:ext cx="26334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una medición continua, un deterioro sostenido puede pasar semanas desapercibido hasta que ya es evidente.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47888" y="2286000"/>
            <a:ext cx="3401568" cy="3383280"/>
          </a:xfrm>
          <a:prstGeom prst="roundRect">
            <a:avLst>
              <a:gd name="adj" fmla="val 378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31936" y="269748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9106" y="291465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31936" y="3703320"/>
            <a:ext cx="2633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caras y manuales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631936" y="4251960"/>
            <a:ext cx="26334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tradicionales cobran licencias caras, se usen o no, y siguen exigiendo montar todo a mano.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menos tiempo con la persona, y decisiones clínicas basadas en la memoria del equipo, no en datos.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 digitaliza la estimulación cognitiva de principio a fin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401568" cy="384048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07008" y="2514600"/>
            <a:ext cx="457200" cy="457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990088" y="251460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2723083"/>
            <a:ext cx="451714" cy="45171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3611880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planifica en minutos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07008" y="4389120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Eliges nivel y número de ejercicios por persona y el plan se arma solo: variado y estándar. No montas la sesión actividad a actividad.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35424" y="2148840"/>
            <a:ext cx="3401568" cy="384048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19472" y="2514600"/>
            <a:ext cx="457200" cy="457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702552" y="251460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035" y="2723083"/>
            <a:ext cx="451714" cy="45171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19472" y="3611880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trabaja en tablet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4919472" y="4389120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contraseñas, un ejercicio a la vez, a pantalla completa. El profesional lleva el control; la persona solo ve su actividad.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247888" y="2148840"/>
            <a:ext cx="3401568" cy="384048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631936" y="2514600"/>
            <a:ext cx="457200" cy="457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20" name="Text 16"/>
          <p:cNvSpPr/>
          <p:nvPr/>
        </p:nvSpPr>
        <p:spPr>
          <a:xfrm>
            <a:off x="8631936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10415016" y="251460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3499" y="2723083"/>
            <a:ext cx="451714" cy="45171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631936" y="3611880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mide solo</a:t>
            </a:r>
            <a:endParaRPr lang="en-US" sz="1900" dirty="0"/>
          </a:p>
        </p:txBody>
      </p:sp>
      <p:sp>
        <p:nvSpPr>
          <p:cNvPr id="24" name="Text 19"/>
          <p:cNvSpPr/>
          <p:nvPr/>
        </p:nvSpPr>
        <p:spPr>
          <a:xfrm>
            <a:off x="8631936" y="4389120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queda registrado y autocorregido. Comparamos a cada persona consigo misma y avisamos pronto de cambios.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 emparejamiento al panel, en un flujo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6276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tablet sirve para participante y maestra; el rol se elige en cada uso. Un centro puede tener varias salas abiertas a la vez.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17341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3081" y="305866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0633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Emparejar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22960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 se vincula al centro con un código de emparejamiento del panel. Es lo primero y obligatorio.</a:t>
            </a:r>
            <a:endParaRPr lang="en-US" sz="11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73" y="3182112"/>
            <a:ext cx="256032" cy="2560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873593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50854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594" y="305866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284147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38185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Elegir rol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3056473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Maestra abre salas y elige participantes; Participante entra directo a jugar en modo kiosco.</a:t>
            </a:r>
            <a:endParaRPr lang="en-US" sz="118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787" y="3182112"/>
            <a:ext cx="256032" cy="2560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107107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5684368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3058668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17660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5271699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juega</a:t>
            </a:r>
            <a:endParaRPr lang="en-US" sz="1650" dirty="0"/>
          </a:p>
        </p:txBody>
      </p:sp>
      <p:sp>
        <p:nvSpPr>
          <p:cNvPr id="24" name="Text 17"/>
          <p:cNvSpPr/>
          <p:nvPr/>
        </p:nvSpPr>
        <p:spPr>
          <a:xfrm>
            <a:off x="5289987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a la vez. La maestra ve a todo el grupo en vivo y marca ayuda con un toque.</a:t>
            </a:r>
            <a:endParaRPr lang="en-US" sz="118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6300" y="3182112"/>
            <a:ext cx="256032" cy="25603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340620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7917881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3621" y="3058668"/>
            <a:ext cx="411480" cy="41148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751174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7505212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Queda medido</a:t>
            </a:r>
            <a:endParaRPr lang="en-US" sz="1650" dirty="0"/>
          </a:p>
        </p:txBody>
      </p:sp>
      <p:sp>
        <p:nvSpPr>
          <p:cNvPr id="31" name="Text 22"/>
          <p:cNvSpPr/>
          <p:nvPr/>
        </p:nvSpPr>
        <p:spPr>
          <a:xfrm>
            <a:off x="7523500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se autocorrige y se guarda ligado a su sala y su persona.</a:t>
            </a:r>
            <a:endParaRPr lang="en-US" sz="118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9814" y="3182112"/>
            <a:ext cx="256032" cy="256032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574134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10151394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7134" y="3058668"/>
            <a:ext cx="411480" cy="411480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10984687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26"/>
          <p:cNvSpPr/>
          <p:nvPr/>
        </p:nvSpPr>
        <p:spPr>
          <a:xfrm>
            <a:off x="9738726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equipo revisa</a:t>
            </a:r>
            <a:endParaRPr lang="en-US" sz="1650" dirty="0"/>
          </a:p>
        </p:txBody>
      </p:sp>
      <p:sp>
        <p:nvSpPr>
          <p:cNvPr id="38" name="Text 27"/>
          <p:cNvSpPr/>
          <p:nvPr/>
        </p:nvSpPr>
        <p:spPr>
          <a:xfrm>
            <a:off x="9757014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panel web: evolución, cola de revisión, alertas e informe a familia.</a:t>
            </a:r>
            <a:endParaRPr lang="en-US" sz="11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Ocho plantillas, ocho dominios cognitivos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9326880" y="7772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~1010</a:t>
            </a:r>
            <a:pPr algn="r" indent="0" marL="0">
              <a:lnSpc>
                <a:spcPct val="95000"/>
              </a:lnSpc>
              <a:buNone/>
            </a:pPr>
            <a:endParaRPr lang="en-US" sz="30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en catálogo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78992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464308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78992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Praxias · manos y control motor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27984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84016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4" y="2464308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4016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Selección múltiple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784016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razonamiento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89040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348" y="2464308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Memoria visual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489040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· retener figuras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938031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194063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371" y="2464308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94063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Búsqueda visual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194063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· localizar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22960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1078992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640580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78992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Secuencia ordenar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1078992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ejecutiva · planificar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3527984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784016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2324" y="4640580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784016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Arrastrar por toque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3784016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· clasificar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6233008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89040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348" y="4640580"/>
            <a:ext cx="356616" cy="35661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489040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Conteo y comparación</a:t>
            </a:r>
            <a:endParaRPr lang="en-US" sz="1550" dirty="0"/>
          </a:p>
        </p:txBody>
      </p:sp>
      <p:sp>
        <p:nvSpPr>
          <p:cNvPr id="39" name="Text 30"/>
          <p:cNvSpPr/>
          <p:nvPr/>
        </p:nvSpPr>
        <p:spPr>
          <a:xfrm>
            <a:off x="6489040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· contar y comparar</a:t>
            </a:r>
            <a:endParaRPr lang="en-US" sz="1150" dirty="0"/>
          </a:p>
        </p:txBody>
      </p:sp>
      <p:sp>
        <p:nvSpPr>
          <p:cNvPr id="40" name="Shape 31"/>
          <p:cNvSpPr/>
          <p:nvPr/>
        </p:nvSpPr>
        <p:spPr>
          <a:xfrm>
            <a:off x="8938031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194063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2371" y="4640580"/>
            <a:ext cx="356616" cy="35661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94063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Manejo de cantidad</a:t>
            </a:r>
            <a:endParaRPr lang="en-US" sz="1550" dirty="0"/>
          </a:p>
        </p:txBody>
      </p:sp>
      <p:sp>
        <p:nvSpPr>
          <p:cNvPr id="44" name="Text 34"/>
          <p:cNvSpPr/>
          <p:nvPr/>
        </p:nvSpPr>
        <p:spPr>
          <a:xfrm>
            <a:off x="9194063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 cotidiana · dinero y reloj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486400" cy="54864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CLÍNICA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93268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mide desempeño, no deterioro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777240" cy="777240"/>
          </a:xfrm>
          <a:prstGeom prst="ellipse">
            <a:avLst/>
          </a:prstGeom>
          <a:solidFill>
            <a:srgbClr val="E8A8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4315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30552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intento nace «sin valorar»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puntúa hasta que un profesional lo revisa. No tocar nada no es fallar: «sin valorar» nunca equivale a «no logrado».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3319272"/>
            <a:ext cx="777240" cy="777240"/>
          </a:xfrm>
          <a:prstGeom prst="ellipse">
            <a:avLst/>
          </a:prstGeom>
          <a:solidFill>
            <a:srgbClr val="E8A87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3513582"/>
            <a:ext cx="388620" cy="3886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300984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Cada persona, consigo misma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828800" y="370332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compara cada resultado con el propio histórico de esa persona (nunca con otras), segmentado por dificultad.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2960" y="4489704"/>
            <a:ext cx="777240" cy="777240"/>
          </a:xfrm>
          <a:prstGeom prst="ellipse">
            <a:avLst/>
          </a:prstGeom>
          <a:solidFill>
            <a:srgbClr val="E8A87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4684014"/>
            <a:ext cx="388620" cy="3886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4471416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Aviso solo ante cambios sostenidos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828800" y="487375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desempeño se sale de su patrón habitual de forma sostenida, se marca para revisión humana.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275320" y="2286000"/>
            <a:ext cx="3154680" cy="2880360"/>
          </a:xfrm>
          <a:prstGeom prst="roundRect">
            <a:avLst>
              <a:gd name="adj" fmla="val 4444"/>
            </a:avLst>
          </a:prstGeom>
          <a:solidFill>
            <a:srgbClr val="FFFEFB"/>
          </a:solidFill>
          <a:ln w="19050">
            <a:solidFill>
              <a:srgbClr val="E8A87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595360" y="260604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6810" y="2777490"/>
            <a:ext cx="342900" cy="342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59536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lenguaje diagnóstico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8595360" y="384048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no es un producto sanitario ni una herramienta de diagnóstico. Mide el desempeño en las actividades; siempre es el profesional quien lo interpreta.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DEL CENTRO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Toda la información donde la necesita el equipo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para el equipo del centro: terapeutas ocupacionales, integradoras sociales y psicología.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70432" y="26700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7602" y="2887218"/>
            <a:ext cx="434340" cy="4343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40280" y="26334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Evolución por persona y grupo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240280" y="31272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 simples de desempeño en el tiempo. La tendencia importa más que el dato suelto.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22860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11112" y="26700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82" y="2887218"/>
            <a:ext cx="434340" cy="4343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26334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Cola de revisión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680960" y="31272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nace «sin valorar»; el profesional confirma con un toque: solo, con ayuda o sin completar.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3434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170432" y="47274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602" y="4944618"/>
            <a:ext cx="434340" cy="4343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240280" y="46908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Alertas de cambio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2240280" y="51846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cuando alguien se sale de su patrón habitual, para revisarlo a tiempo.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63640" y="43434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11112" y="47274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8282" y="4944618"/>
            <a:ext cx="434340" cy="4343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6908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Informe a familia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680960" y="51846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resumen digno y claro del desempeño, listo para compartir con la familia.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DIGNIDAD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Diseñado para el usuario más frágil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66420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mayor —a veces con Alzheimer, baja visión o temblor— nunca se queda atrapada, nunca lee un «has fallado», nunca tiene prisa.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278892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8730" y="2960370"/>
            <a:ext cx="342900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514600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Objetivos táctiles grandes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44898" y="2514600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78892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0668" y="296037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42178" y="2514600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Alto contraste (≥4.5:1)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6837" y="2514600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41157" y="278892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607" y="296037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164117" y="2514600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Háptico en cada selección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822960" y="4005072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097280" y="4279392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730" y="4450842"/>
            <a:ext cx="342900" cy="342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920240" y="4005072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Enunciados leídos en voz alta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4005072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719218" y="4279392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0668" y="4450842"/>
            <a:ext cx="342900" cy="3429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542178" y="4005072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Sin menús ni navegación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066837" y="4005072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341157" y="4279392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2607" y="4450842"/>
            <a:ext cx="342900" cy="3429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164117" y="4005072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Funciona sin conexión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protegidos (RGPD): el centro es el responsable del tratamiento y Trazo el encargado; datos pseudonimizados y nombre real guardado aparte.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Y PRECIOS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 modelo claro, pensado para cadenas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401568" cy="416052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219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" y="2468880"/>
            <a:ext cx="2761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Piloto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43000" y="3017520"/>
            <a:ext cx="27614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43000" y="35935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el periodo de prueba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3995928"/>
            <a:ext cx="182880" cy="1828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89888" y="3931920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usuarios reales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379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89888" y="4315968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permanencia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76402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89888" y="4700016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formación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90288" y="1965960"/>
            <a:ext cx="3401568" cy="4160520"/>
          </a:xfrm>
          <a:prstGeom prst="roundRect">
            <a:avLst>
              <a:gd name="adj" fmla="val 3763"/>
            </a:avLst>
          </a:prstGeom>
          <a:solidFill>
            <a:srgbClr val="12312E"/>
          </a:solidFill>
          <a:ln w="25400">
            <a:solidFill>
              <a:srgbClr val="12A99B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5513832" y="180136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4553A"/>
          </a:solidFill>
          <a:ln/>
        </p:spPr>
      </p:sp>
      <p:sp>
        <p:nvSpPr>
          <p:cNvPr id="17" name="Text 12"/>
          <p:cNvSpPr/>
          <p:nvPr/>
        </p:nvSpPr>
        <p:spPr>
          <a:xfrm>
            <a:off x="5513832" y="18013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910328" y="22219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LANZAMIENTO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10328" y="2468880"/>
            <a:ext cx="2761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Centro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4910328" y="3017520"/>
            <a:ext cx="27614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125€</a:t>
            </a:r>
            <a:pPr indent="0" marL="0">
              <a:buNone/>
            </a:pPr>
            <a:r>
              <a:rPr lang="en-US" sz="12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mes por centro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4910328" y="35935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 fundador</a:t>
            </a:r>
            <a:endParaRPr lang="en-US" sz="11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3995928"/>
            <a:ext cx="182880" cy="1828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157216" y="3931920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SIN LÍMITE: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T.O., integración social y psicología</a:t>
            </a:r>
            <a:endParaRPr lang="en-US" sz="115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328" y="4562856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157216" y="4498848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personas activas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(+3 €/mes por cada una de más)</a:t>
            </a:r>
            <a:endParaRPr lang="en-US" sz="11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512978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157216" y="5065776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formación incluidas</a:t>
            </a:r>
            <a:endParaRPr lang="en-US" sz="11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328" y="5513832"/>
            <a:ext cx="182880" cy="18288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157216" y="5449824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permanencia, mes a mes</a:t>
            </a:r>
            <a:endParaRPr lang="en-US" sz="1150" dirty="0"/>
          </a:p>
        </p:txBody>
      </p:sp>
      <p:sp>
        <p:nvSpPr>
          <p:cNvPr id="30" name="Shape 21"/>
          <p:cNvSpPr/>
          <p:nvPr/>
        </p:nvSpPr>
        <p:spPr>
          <a:xfrm>
            <a:off x="8357616" y="1965960"/>
            <a:ext cx="3401568" cy="416052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8677656" y="22219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CENTROS</a:t>
            </a:r>
            <a:endParaRPr lang="en-US" sz="1000" dirty="0"/>
          </a:p>
        </p:txBody>
      </p:sp>
      <p:sp>
        <p:nvSpPr>
          <p:cNvPr id="32" name="Text 23"/>
          <p:cNvSpPr/>
          <p:nvPr/>
        </p:nvSpPr>
        <p:spPr>
          <a:xfrm>
            <a:off x="8677656" y="2468880"/>
            <a:ext cx="2761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Red</a:t>
            </a:r>
            <a:endParaRPr lang="en-US" sz="2400" dirty="0"/>
          </a:p>
        </p:txBody>
      </p:sp>
      <p:sp>
        <p:nvSpPr>
          <p:cNvPr id="33" name="Text 24"/>
          <p:cNvSpPr/>
          <p:nvPr/>
        </p:nvSpPr>
        <p:spPr>
          <a:xfrm>
            <a:off x="8677656" y="3017520"/>
            <a:ext cx="27614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medida</a:t>
            </a:r>
            <a:endParaRPr lang="en-US" sz="3000" dirty="0"/>
          </a:p>
        </p:txBody>
      </p:sp>
      <p:sp>
        <p:nvSpPr>
          <p:cNvPr id="34" name="Text 25"/>
          <p:cNvSpPr/>
          <p:nvPr/>
        </p:nvSpPr>
        <p:spPr>
          <a:xfrm>
            <a:off x="8677656" y="35935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y redes de centros</a:t>
            </a:r>
            <a:endParaRPr lang="en-US" sz="11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77656" y="3995928"/>
            <a:ext cx="182880" cy="18288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8924544" y="3931920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plan Centro</a:t>
            </a:r>
            <a:endParaRPr lang="en-US" sz="115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4379976"/>
            <a:ext cx="182880" cy="18288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8924544" y="4315968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volumen de la cadena</a:t>
            </a:r>
            <a:endParaRPr lang="en-US" sz="11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7656" y="4764024"/>
            <a:ext cx="182880" cy="18288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8924544" y="4700016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a medida</a:t>
            </a:r>
            <a:endParaRPr lang="en-US" sz="1150" dirty="0"/>
          </a:p>
        </p:txBody>
      </p:sp>
      <p:sp>
        <p:nvSpPr>
          <p:cNvPr id="41" name="Text 29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sin coste · sin permanencia · instalación y formación incluidas.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alternativa ágil a las plataformas tradicionales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66420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Alrededor de la mitad de precio que las plataformas del sector, y sin límite por profesional.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566160" y="2286000"/>
            <a:ext cx="3901288" cy="475488"/>
          </a:xfrm>
          <a:prstGeom prst="roundRect">
            <a:avLst>
              <a:gd name="adj" fmla="val 15385"/>
            </a:avLst>
          </a:prstGeom>
          <a:solidFill>
            <a:srgbClr val="1F7A70"/>
          </a:solidFill>
          <a:ln/>
        </p:spPr>
      </p:sp>
      <p:sp>
        <p:nvSpPr>
          <p:cNvPr id="6" name="Text 4"/>
          <p:cNvSpPr/>
          <p:nvPr/>
        </p:nvSpPr>
        <p:spPr>
          <a:xfrm>
            <a:off x="3566160" y="2286000"/>
            <a:ext cx="39012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67448" y="2286000"/>
            <a:ext cx="39012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716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Plataformas tradicionales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852928"/>
            <a:ext cx="10545775" cy="694944"/>
          </a:xfrm>
          <a:prstGeom prst="rect">
            <a:avLst/>
          </a:prstGeom>
          <a:solidFill>
            <a:srgbClr val="FFFEFB"/>
          </a:solidFill>
          <a:ln/>
        </p:spPr>
      </p:sp>
      <p:sp>
        <p:nvSpPr>
          <p:cNvPr id="9" name="Shape 7"/>
          <p:cNvSpPr/>
          <p:nvPr/>
        </p:nvSpPr>
        <p:spPr>
          <a:xfrm>
            <a:off x="3566160" y="2852928"/>
            <a:ext cx="3901288" cy="694944"/>
          </a:xfrm>
          <a:prstGeom prst="rect">
            <a:avLst/>
          </a:prstGeom>
          <a:solidFill>
            <a:srgbClr val="DFF1ED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52928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Coste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749040" y="2852928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persona activa al mes; si un mes no trabaja, no cuenta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50328" y="2852928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Licencias caras, se pague o no se use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566160" y="3547872"/>
            <a:ext cx="3901288" cy="694944"/>
          </a:xfrm>
          <a:prstGeom prst="rect">
            <a:avLst/>
          </a:prstGeom>
          <a:solidFill>
            <a:srgbClr val="E8F5F2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547872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Preparar la sesión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49040" y="3547872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Eliges nivel y número; el plan se arma solo, en minutos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50328" y="3547872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la sesión actividad a actividad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4242816"/>
            <a:ext cx="10545775" cy="694944"/>
          </a:xfrm>
          <a:prstGeom prst="rect">
            <a:avLst/>
          </a:prstGeom>
          <a:solidFill>
            <a:srgbClr val="FFFEFB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4242816"/>
            <a:ext cx="3901288" cy="694944"/>
          </a:xfrm>
          <a:prstGeom prst="rect">
            <a:avLst/>
          </a:prstGeom>
          <a:solidFill>
            <a:srgbClr val="DFF1ED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usuaria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749040" y="4242816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sin contraseñas, un ejercicio a la vez, sin conexión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650328" y="4242816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con menús y pasos que confunden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566160" y="4937760"/>
            <a:ext cx="3901288" cy="694944"/>
          </a:xfrm>
          <a:prstGeom prst="rect">
            <a:avLst/>
          </a:prstGeom>
          <a:solidFill>
            <a:srgbClr val="E8F5F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937760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Medición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749040" y="4937760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corrige sola y compara a cada persona consigo misma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650328" y="4937760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uso, poco accionables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5632704"/>
            <a:ext cx="10545775" cy="694944"/>
          </a:xfrm>
          <a:prstGeom prst="rect">
            <a:avLst/>
          </a:prstGeom>
          <a:solidFill>
            <a:srgbClr val="FFFEFB"/>
          </a:solidFill>
          <a:ln/>
        </p:spPr>
      </p:sp>
      <p:sp>
        <p:nvSpPr>
          <p:cNvPr id="27" name="Shape 25"/>
          <p:cNvSpPr/>
          <p:nvPr/>
        </p:nvSpPr>
        <p:spPr>
          <a:xfrm>
            <a:off x="3566160" y="5632704"/>
            <a:ext cx="3901288" cy="694944"/>
          </a:xfrm>
          <a:prstGeom prst="rect">
            <a:avLst/>
          </a:prstGeom>
          <a:solidFill>
            <a:srgbClr val="DFF1ED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5632704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Para empezar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749040" y="5632704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sin coste, sin permanencia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650328" y="5632704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y permanencia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943600" cy="59436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2194560"/>
            <a:ext cx="5029200" cy="5029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0" y="1234440"/>
            <a:ext cx="1371600" cy="1371600"/>
          </a:xfrm>
          <a:prstGeom prst="roundRect">
            <a:avLst>
              <a:gd name="adj" fmla="val 23333"/>
            </a:avLst>
          </a:prstGeom>
          <a:solidFill>
            <a:srgbClr val="12A99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803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Solicita una demo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2194560" y="38404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 enseñamos con tus casos reales y montamos un piloto sin coste. En una llamada ves cómo se planifica en minutos y cómo se mide sola.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4160520" y="4892040"/>
            <a:ext cx="3886200" cy="658368"/>
          </a:xfrm>
          <a:prstGeom prst="roundRect">
            <a:avLst>
              <a:gd name="adj" fmla="val 50000"/>
            </a:avLst>
          </a:prstGeom>
          <a:solidFill>
            <a:srgbClr val="FFFEFB"/>
          </a:solidFill>
          <a:ln/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509320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937760" y="48920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saulodlsf@gmail.com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— Estimulación cognitiva para centros de día y residencias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Trazo — Presentación</dc:title>
  <dc:subject>PptxGenJS Presentation</dc:subject>
  <dc:creator>Trazo</dc:creator>
  <cp:lastModifiedBy>Trazo</cp:lastModifiedBy>
  <cp:revision>1</cp:revision>
  <dcterms:created xsi:type="dcterms:W3CDTF">2026-08-25T13:19:33Z</dcterms:created>
  <dcterms:modified xsi:type="dcterms:W3CDTF">2026-08-25T13:19:33Z</dcterms:modified>
</cp:coreProperties>
</file>