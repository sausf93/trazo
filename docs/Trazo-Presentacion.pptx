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7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51560" cy="1051560"/>
          </a:xfrm>
          <a:prstGeom prst="roundRect">
            <a:avLst>
              <a:gd name="adj" fmla="val 28000"/>
            </a:avLst>
          </a:prstGeom>
          <a:solidFill>
            <a:srgbClr val="12A99B"/>
          </a:solidFill>
          <a:ln/>
        </p:spPr>
      </p:sp>
      <p:sp>
        <p:nvSpPr>
          <p:cNvPr id="3" name="Shape 1"/>
          <p:cNvSpPr/>
          <p:nvPr/>
        </p:nvSpPr>
        <p:spPr>
          <a:xfrm>
            <a:off x="1001725" y="1471270"/>
            <a:ext cx="115672" cy="-252374"/>
          </a:xfrm>
          <a:prstGeom prst="line">
            <a:avLst/>
          </a:prstGeom>
          <a:noFill/>
          <a:ln w="43815">
            <a:solidFill>
              <a:srgbClr val="FFFE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7397" y="1218895"/>
            <a:ext cx="126187" cy="189281"/>
          </a:xfrm>
          <a:prstGeom prst="line">
            <a:avLst/>
          </a:prstGeom>
          <a:noFill/>
          <a:ln w="43815">
            <a:solidFill>
              <a:srgbClr val="FFF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408176"/>
            <a:ext cx="105156" cy="-52578"/>
          </a:xfrm>
          <a:prstGeom prst="line">
            <a:avLst/>
          </a:prstGeom>
          <a:noFill/>
          <a:ln w="43815">
            <a:solidFill>
              <a:srgbClr val="FFF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8740" y="1355598"/>
            <a:ext cx="126187" cy="73609"/>
          </a:xfrm>
          <a:prstGeom prst="line">
            <a:avLst/>
          </a:prstGeom>
          <a:noFill/>
          <a:ln w="43815">
            <a:solidFill>
              <a:srgbClr val="FFFE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74927" y="1429207"/>
            <a:ext cx="105156" cy="-189281"/>
          </a:xfrm>
          <a:prstGeom prst="line">
            <a:avLst/>
          </a:prstGeom>
          <a:noFill/>
          <a:ln w="43815">
            <a:solidFill>
              <a:srgbClr val="FFF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0083" y="1239926"/>
            <a:ext cx="115672" cy="-63094"/>
          </a:xfrm>
          <a:prstGeom prst="line">
            <a:avLst/>
          </a:prstGeom>
          <a:noFill/>
          <a:ln w="43815">
            <a:solidFill>
              <a:srgbClr val="FFF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53692" y="1092708"/>
            <a:ext cx="147218" cy="147218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822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ESTIMULACIÓN COGNITIVA · PARA CENTROS Y REDES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planifica en minutos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 se mide sola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68680" y="4800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Estimulación cognitiva en tablet para centros de día y residencias.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usuarias trabajan en la tablet y todo queda medido.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5989320"/>
            <a:ext cx="2445106" cy="457200"/>
          </a:xfrm>
          <a:prstGeom prst="roundRect">
            <a:avLst>
              <a:gd name="adj" fmla="val 50000"/>
            </a:avLst>
          </a:prstGeom>
          <a:solidFill>
            <a:srgbClr val="17635B"/>
          </a:solidFill>
          <a:ln w="12700">
            <a:solidFill>
              <a:srgbClr val="3E91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989320"/>
            <a:ext cx="2445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sin contraseñas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88106" y="5989320"/>
            <a:ext cx="2265883" cy="457200"/>
          </a:xfrm>
          <a:prstGeom prst="roundRect">
            <a:avLst>
              <a:gd name="adj" fmla="val 50000"/>
            </a:avLst>
          </a:prstGeom>
          <a:solidFill>
            <a:srgbClr val="17635B"/>
          </a:solidFill>
          <a:ln w="12700">
            <a:solidFill>
              <a:srgbClr val="3E91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8106" y="5989320"/>
            <a:ext cx="2265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8309" y="5989320"/>
            <a:ext cx="2445106" cy="457200"/>
          </a:xfrm>
          <a:prstGeom prst="roundRect">
            <a:avLst>
              <a:gd name="adj" fmla="val 50000"/>
            </a:avLst>
          </a:prstGeom>
          <a:solidFill>
            <a:srgbClr val="17635B"/>
          </a:solidFill>
          <a:ln w="12700">
            <a:solidFill>
              <a:srgbClr val="3E91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8309" y="5989320"/>
            <a:ext cx="2445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protegidos (RGPD)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4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Trazo no sustituye vuestro trabajo:</a:t>
            </a:r>
            <a:endParaRPr lang="en-US" sz="3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hace más fácil y a distancia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5257800" cy="2743200"/>
          </a:xfrm>
          <a:prstGeom prst="roundRect">
            <a:avLst>
              <a:gd name="adj" fmla="val 4667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ya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384048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 y acompaña cada sesión.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a mano la evolución de cada persona.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coordina para planificar las actividades.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144768" y="4160520"/>
            <a:ext cx="566928" cy="548640"/>
          </a:xfrm>
          <a:prstGeom prst="rightArrow">
            <a:avLst/>
          </a:prstGeom>
          <a:solidFill>
            <a:srgbClr val="1F7A70"/>
          </a:solidFill>
          <a:ln/>
        </p:spPr>
      </p:sp>
      <p:sp>
        <p:nvSpPr>
          <p:cNvPr id="8" name="Shape 6"/>
          <p:cNvSpPr/>
          <p:nvPr/>
        </p:nvSpPr>
        <p:spPr>
          <a:xfrm>
            <a:off x="6199632" y="3063240"/>
            <a:ext cx="5257800" cy="2743200"/>
          </a:xfrm>
          <a:prstGeom prst="roundRect">
            <a:avLst>
              <a:gd name="adj" fmla="val 4667"/>
            </a:avLst>
          </a:prstGeom>
          <a:solidFill>
            <a:srgbClr val="FFFEFB"/>
          </a:solidFill>
          <a:ln w="19050">
            <a:solidFill>
              <a:srgbClr val="12A9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 suma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9672" y="384048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6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nivel y número; el plan se arma solo, en minutos.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6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intento se corrige y se mide solo.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6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cambio a distancia y avisa; y es digitalización útil.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Cinco pasos, y la sesión está lista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783080" cy="1965960"/>
          </a:xfrm>
          <a:prstGeom prst="roundRect">
            <a:avLst>
              <a:gd name="adj" fmla="val 9231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3913" y="2072945"/>
            <a:ext cx="1569110" cy="1751990"/>
          </a:xfrm>
          <a:prstGeom prst="roundRect">
            <a:avLst>
              <a:gd name="adj" fmla="val 4662"/>
            </a:avLst>
          </a:prstGeom>
          <a:solidFill>
            <a:srgbClr val="FFFEFB"/>
          </a:solidFill>
          <a:ln/>
        </p:spPr>
      </p:sp>
      <p:sp>
        <p:nvSpPr>
          <p:cNvPr id="6" name="Text 4"/>
          <p:cNvSpPr/>
          <p:nvPr/>
        </p:nvSpPr>
        <p:spPr>
          <a:xfrm>
            <a:off x="673913" y="2182673"/>
            <a:ext cx="15691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Emparejar tablet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6092" y="2575865"/>
            <a:ext cx="292608" cy="384048"/>
          </a:xfrm>
          <a:prstGeom prst="roundRect">
            <a:avLst>
              <a:gd name="adj" fmla="val 15625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" y="2575865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20140" y="2575865"/>
            <a:ext cx="292608" cy="384048"/>
          </a:xfrm>
          <a:prstGeom prst="roundRect">
            <a:avLst>
              <a:gd name="adj" fmla="val 15625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0140" y="2575865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04188" y="2575865"/>
            <a:ext cx="292608" cy="384048"/>
          </a:xfrm>
          <a:prstGeom prst="roundRect">
            <a:avLst>
              <a:gd name="adj" fmla="val 15625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4188" y="2575865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88236" y="2575865"/>
            <a:ext cx="292608" cy="384048"/>
          </a:xfrm>
          <a:prstGeom prst="roundRect">
            <a:avLst>
              <a:gd name="adj" fmla="val 15625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8236" y="2575865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9945" y="3367735"/>
            <a:ext cx="1057046" cy="310896"/>
          </a:xfrm>
          <a:prstGeom prst="roundRect">
            <a:avLst>
              <a:gd name="adj" fmla="val 50000"/>
            </a:avLst>
          </a:prstGeom>
          <a:solidFill>
            <a:srgbClr val="1F7A70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3367735"/>
            <a:ext cx="10570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02436" y="3913632"/>
            <a:ext cx="512064" cy="512064"/>
          </a:xfrm>
          <a:prstGeom prst="ellipse">
            <a:avLst/>
          </a:prstGeom>
          <a:solidFill>
            <a:srgbClr val="1F7A70"/>
          </a:solidFill>
          <a:ln w="31750">
            <a:solidFill>
              <a:srgbClr val="F5F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2436" y="3913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" y="4434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Emparejar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del panel. Sin contraseñas.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04872" y="2830068"/>
            <a:ext cx="274320" cy="237744"/>
          </a:xfrm>
          <a:prstGeom prst="rightArrow">
            <a:avLst/>
          </a:prstGeom>
          <a:solidFill>
            <a:srgbClr val="D2E6E2"/>
          </a:solidFill>
          <a:ln/>
        </p:spPr>
      </p:sp>
      <p:sp>
        <p:nvSpPr>
          <p:cNvPr id="22" name="Shape 20"/>
          <p:cNvSpPr/>
          <p:nvPr/>
        </p:nvSpPr>
        <p:spPr>
          <a:xfrm>
            <a:off x="2734056" y="1965960"/>
            <a:ext cx="1783080" cy="1965960"/>
          </a:xfrm>
          <a:prstGeom prst="roundRect">
            <a:avLst>
              <a:gd name="adj" fmla="val 9231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41041" y="2072945"/>
            <a:ext cx="1569110" cy="1751990"/>
          </a:xfrm>
          <a:prstGeom prst="roundRect">
            <a:avLst>
              <a:gd name="adj" fmla="val 4662"/>
            </a:avLst>
          </a:prstGeom>
          <a:solidFill>
            <a:srgbClr val="FFFEFB"/>
          </a:solidFill>
          <a:ln/>
        </p:spPr>
      </p:sp>
      <p:sp>
        <p:nvSpPr>
          <p:cNvPr id="24" name="Shape 22"/>
          <p:cNvSpPr/>
          <p:nvPr/>
        </p:nvSpPr>
        <p:spPr>
          <a:xfrm>
            <a:off x="3023921" y="2328977"/>
            <a:ext cx="1203350" cy="457200"/>
          </a:xfrm>
          <a:prstGeom prst="roundRect">
            <a:avLst>
              <a:gd name="adj" fmla="val 16000"/>
            </a:avLst>
          </a:prstGeom>
          <a:solidFill>
            <a:srgbClr val="1F7A70"/>
          </a:solidFill>
          <a:ln/>
        </p:spPr>
      </p:sp>
      <p:sp>
        <p:nvSpPr>
          <p:cNvPr id="25" name="Text 23"/>
          <p:cNvSpPr/>
          <p:nvPr/>
        </p:nvSpPr>
        <p:spPr>
          <a:xfrm>
            <a:off x="3023921" y="2328977"/>
            <a:ext cx="1203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23921" y="2895905"/>
            <a:ext cx="1203350" cy="457200"/>
          </a:xfrm>
          <a:prstGeom prst="roundRect">
            <a:avLst>
              <a:gd name="adj" fmla="val 16000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3921" y="2895905"/>
            <a:ext cx="1203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69564" y="3913632"/>
            <a:ext cx="512064" cy="512064"/>
          </a:xfrm>
          <a:prstGeom prst="ellipse">
            <a:avLst/>
          </a:prstGeom>
          <a:solidFill>
            <a:srgbClr val="1F7A70"/>
          </a:solidFill>
          <a:ln w="31750">
            <a:solidFill>
              <a:srgbClr val="F5F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9564" y="3913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642616" y="4434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Elegir rol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624328" y="475488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 o Maestra, en cada uso.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830068"/>
            <a:ext cx="274320" cy="237744"/>
          </a:xfrm>
          <a:prstGeom prst="rightArrow">
            <a:avLst/>
          </a:prstGeom>
          <a:solidFill>
            <a:srgbClr val="D2E6E2"/>
          </a:solidFill>
          <a:ln/>
        </p:spPr>
      </p:sp>
      <p:sp>
        <p:nvSpPr>
          <p:cNvPr id="33" name="Shape 31"/>
          <p:cNvSpPr/>
          <p:nvPr/>
        </p:nvSpPr>
        <p:spPr>
          <a:xfrm>
            <a:off x="4901184" y="1965960"/>
            <a:ext cx="1783080" cy="1965960"/>
          </a:xfrm>
          <a:prstGeom prst="roundRect">
            <a:avLst>
              <a:gd name="adj" fmla="val 9231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08169" y="2072945"/>
            <a:ext cx="1569110" cy="1751990"/>
          </a:xfrm>
          <a:prstGeom prst="roundRect">
            <a:avLst>
              <a:gd name="adj" fmla="val 4662"/>
            </a:avLst>
          </a:prstGeom>
          <a:solidFill>
            <a:srgbClr val="FFFEFB"/>
          </a:solidFill>
          <a:ln/>
        </p:spPr>
      </p:sp>
      <p:sp>
        <p:nvSpPr>
          <p:cNvPr id="35" name="Shape 33"/>
          <p:cNvSpPr/>
          <p:nvPr/>
        </p:nvSpPr>
        <p:spPr>
          <a:xfrm>
            <a:off x="5191049" y="2941625"/>
            <a:ext cx="46283" cy="-49191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237332" y="2892434"/>
            <a:ext cx="46283" cy="-47358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283614" y="2845076"/>
            <a:ext cx="46283" cy="-43760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329897" y="2801316"/>
            <a:ext cx="46283" cy="-38533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376180" y="2762784"/>
            <a:ext cx="46283" cy="-31869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422462" y="2730915"/>
            <a:ext cx="46283" cy="-24018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468745" y="2706897"/>
            <a:ext cx="46283" cy="-15272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515028" y="2691625"/>
            <a:ext cx="46283" cy="-5957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561310" y="2685668"/>
            <a:ext cx="46283" cy="3580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607593" y="2689247"/>
            <a:ext cx="46283" cy="12983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653876" y="2702231"/>
            <a:ext cx="46283" cy="21903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700159" y="2724134"/>
            <a:ext cx="46283" cy="30007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746441" y="2754141"/>
            <a:ext cx="46283" cy="36992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792724" y="2791133"/>
            <a:ext cx="46283" cy="42600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839007" y="2833733"/>
            <a:ext cx="46283" cy="46620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885289" y="2880352"/>
            <a:ext cx="46283" cy="48903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931572" y="2929255"/>
            <a:ext cx="46283" cy="49364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977855" y="2978619"/>
            <a:ext cx="46283" cy="47985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024138" y="3026604"/>
            <a:ext cx="46283" cy="44819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070420" y="3071423"/>
            <a:ext cx="46283" cy="39983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116703" y="3111405"/>
            <a:ext cx="46283" cy="33657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162986" y="3145062"/>
            <a:ext cx="46283" cy="26077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6209268" y="3171139"/>
            <a:ext cx="46283" cy="17525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255551" y="3188664"/>
            <a:ext cx="46283" cy="8320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6301834" y="3196984"/>
            <a:ext cx="46283" cy="-1194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6348116" y="3195790"/>
            <a:ext cx="46283" cy="-10664"/>
          </a:xfrm>
          <a:prstGeom prst="line">
            <a:avLst/>
          </a:prstGeom>
          <a:noFill/>
          <a:ln w="44450">
            <a:solidFill>
              <a:srgbClr val="D2E6E2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5191049" y="2941625"/>
            <a:ext cx="42117" cy="-63673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3166" y="2877952"/>
            <a:ext cx="42117" cy="-5967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75283" y="2818280"/>
            <a:ext cx="42117" cy="-5192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17401" y="2766359"/>
            <a:ext cx="42117" cy="-40909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59518" y="2725450"/>
            <a:ext cx="42117" cy="-27326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01635" y="2698124"/>
            <a:ext cx="42117" cy="-12026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3752" y="2686098"/>
            <a:ext cx="42117" cy="4030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5870" y="2690128"/>
            <a:ext cx="42117" cy="1983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27987" y="2709960"/>
            <a:ext cx="42117" cy="34389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70104" y="2744349"/>
            <a:ext cx="42117" cy="46784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12221" y="2791133"/>
            <a:ext cx="42117" cy="56240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54339" y="2847373"/>
            <a:ext cx="42117" cy="6216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96456" y="2909535"/>
            <a:ext cx="42117" cy="64179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738573" y="2973714"/>
            <a:ext cx="42117" cy="6216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780690" y="3035876"/>
            <a:ext cx="42117" cy="56240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22808" y="3092117"/>
            <a:ext cx="42117" cy="46784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64925" y="3138901"/>
            <a:ext cx="42117" cy="34389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07042" y="3173289"/>
            <a:ext cx="42117" cy="1983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49160" y="3193122"/>
            <a:ext cx="42117" cy="4030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991277" y="3197152"/>
            <a:ext cx="42117" cy="-12026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136185" y="2886761"/>
            <a:ext cx="128016" cy="128016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82" name="Text 80"/>
          <p:cNvSpPr/>
          <p:nvPr/>
        </p:nvSpPr>
        <p:spPr>
          <a:xfrm>
            <a:off x="5008169" y="3440887"/>
            <a:ext cx="15691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la línea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536692" y="3913632"/>
            <a:ext cx="512064" cy="512064"/>
          </a:xfrm>
          <a:prstGeom prst="ellipse">
            <a:avLst/>
          </a:prstGeom>
          <a:solidFill>
            <a:srgbClr val="1F7A70"/>
          </a:solidFill>
          <a:ln w="31750">
            <a:solidFill>
              <a:srgbClr val="F5FBF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36692" y="3913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4809744" y="4434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persona juega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4791456" y="475488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actividad, a pantalla completa.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739128" y="2830068"/>
            <a:ext cx="274320" cy="237744"/>
          </a:xfrm>
          <a:prstGeom prst="rightArrow">
            <a:avLst/>
          </a:prstGeom>
          <a:solidFill>
            <a:srgbClr val="D2E6E2"/>
          </a:solidFill>
          <a:ln/>
        </p:spPr>
      </p:sp>
      <p:sp>
        <p:nvSpPr>
          <p:cNvPr id="88" name="Shape 86"/>
          <p:cNvSpPr/>
          <p:nvPr/>
        </p:nvSpPr>
        <p:spPr>
          <a:xfrm>
            <a:off x="7068312" y="1965960"/>
            <a:ext cx="1783080" cy="1965960"/>
          </a:xfrm>
          <a:prstGeom prst="roundRect">
            <a:avLst>
              <a:gd name="adj" fmla="val 9231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7175297" y="2072945"/>
            <a:ext cx="1569110" cy="1751990"/>
          </a:xfrm>
          <a:prstGeom prst="roundRect">
            <a:avLst>
              <a:gd name="adj" fmla="val 4662"/>
            </a:avLst>
          </a:prstGeom>
          <a:solidFill>
            <a:srgbClr val="FFFEFB"/>
          </a:solidFill>
          <a:ln/>
        </p:spPr>
      </p:sp>
      <p:sp>
        <p:nvSpPr>
          <p:cNvPr id="90" name="Shape 88"/>
          <p:cNvSpPr/>
          <p:nvPr/>
        </p:nvSpPr>
        <p:spPr>
          <a:xfrm>
            <a:off x="7495337" y="2804465"/>
            <a:ext cx="201168" cy="320040"/>
          </a:xfrm>
          <a:prstGeom prst="roundRect">
            <a:avLst>
              <a:gd name="adj" fmla="val 13636"/>
            </a:avLst>
          </a:prstGeom>
          <a:solidFill>
            <a:srgbClr val="12A99B"/>
          </a:solidFill>
          <a:ln/>
        </p:spPr>
      </p:sp>
      <p:sp>
        <p:nvSpPr>
          <p:cNvPr id="91" name="Shape 89"/>
          <p:cNvSpPr/>
          <p:nvPr/>
        </p:nvSpPr>
        <p:spPr>
          <a:xfrm>
            <a:off x="7787945" y="2621585"/>
            <a:ext cx="201168" cy="502920"/>
          </a:xfrm>
          <a:prstGeom prst="roundRect">
            <a:avLst>
              <a:gd name="adj" fmla="val 13636"/>
            </a:avLst>
          </a:prstGeom>
          <a:solidFill>
            <a:srgbClr val="12A99B"/>
          </a:solidFill>
          <a:ln/>
        </p:spPr>
      </p:sp>
      <p:sp>
        <p:nvSpPr>
          <p:cNvPr id="92" name="Shape 90"/>
          <p:cNvSpPr/>
          <p:nvPr/>
        </p:nvSpPr>
        <p:spPr>
          <a:xfrm>
            <a:off x="8080553" y="2438705"/>
            <a:ext cx="201168" cy="685800"/>
          </a:xfrm>
          <a:prstGeom prst="roundRect">
            <a:avLst>
              <a:gd name="adj" fmla="val 13636"/>
            </a:avLst>
          </a:prstGeom>
          <a:solidFill>
            <a:srgbClr val="12A99B"/>
          </a:solidFill>
          <a:ln/>
        </p:spPr>
      </p:sp>
      <p:sp>
        <p:nvSpPr>
          <p:cNvPr id="93" name="Shape 91"/>
          <p:cNvSpPr/>
          <p:nvPr/>
        </p:nvSpPr>
        <p:spPr>
          <a:xfrm>
            <a:off x="8373161" y="2575865"/>
            <a:ext cx="201168" cy="548640"/>
          </a:xfrm>
          <a:prstGeom prst="roundRect">
            <a:avLst>
              <a:gd name="adj" fmla="val 13636"/>
            </a:avLst>
          </a:prstGeom>
          <a:solidFill>
            <a:srgbClr val="C4553A"/>
          </a:solidFill>
          <a:ln/>
        </p:spPr>
      </p:sp>
      <p:sp>
        <p:nvSpPr>
          <p:cNvPr id="94" name="Shape 92"/>
          <p:cNvSpPr/>
          <p:nvPr/>
        </p:nvSpPr>
        <p:spPr>
          <a:xfrm>
            <a:off x="8177479" y="2347265"/>
            <a:ext cx="310896" cy="310896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95" name="Text 93"/>
          <p:cNvSpPr/>
          <p:nvPr/>
        </p:nvSpPr>
        <p:spPr>
          <a:xfrm>
            <a:off x="8177479" y="234726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7175297" y="3440887"/>
            <a:ext cx="15691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valorar → se mide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703820" y="3913632"/>
            <a:ext cx="512064" cy="512064"/>
          </a:xfrm>
          <a:prstGeom prst="ellipse">
            <a:avLst/>
          </a:prstGeom>
          <a:solidFill>
            <a:srgbClr val="1F7A70"/>
          </a:solidFill>
          <a:ln w="31750">
            <a:solidFill>
              <a:srgbClr val="F5FBF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03820" y="3913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6976872" y="4434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Queda medido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6958584" y="475488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intento se corrige solo.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906256" y="2830068"/>
            <a:ext cx="274320" cy="237744"/>
          </a:xfrm>
          <a:prstGeom prst="rightArrow">
            <a:avLst/>
          </a:prstGeom>
          <a:solidFill>
            <a:srgbClr val="D2E6E2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235440" y="1965960"/>
            <a:ext cx="1783080" cy="1965960"/>
          </a:xfrm>
          <a:prstGeom prst="roundRect">
            <a:avLst>
              <a:gd name="adj" fmla="val 9231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9342425" y="2072945"/>
            <a:ext cx="1569110" cy="1751990"/>
          </a:xfrm>
          <a:prstGeom prst="roundRect">
            <a:avLst>
              <a:gd name="adj" fmla="val 4662"/>
            </a:avLst>
          </a:prstGeom>
          <a:solidFill>
            <a:srgbClr val="FFFEF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543593" y="3090215"/>
            <a:ext cx="256690" cy="-130302"/>
          </a:xfrm>
          <a:prstGeom prst="line">
            <a:avLst/>
          </a:prstGeom>
          <a:noFill/>
          <a:ln w="31750">
            <a:solidFill>
              <a:srgbClr val="12A99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800283" y="2959913"/>
            <a:ext cx="233355" cy="17374"/>
          </a:xfrm>
          <a:prstGeom prst="line">
            <a:avLst/>
          </a:prstGeom>
          <a:noFill/>
          <a:ln w="31750">
            <a:solidFill>
              <a:srgbClr val="12A99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33638" y="2977286"/>
            <a:ext cx="233355" cy="-104242"/>
          </a:xfrm>
          <a:prstGeom prst="line">
            <a:avLst/>
          </a:prstGeom>
          <a:noFill/>
          <a:ln w="31750">
            <a:solidFill>
              <a:srgbClr val="12A99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266993" y="2873045"/>
            <a:ext cx="210019" cy="191110"/>
          </a:xfrm>
          <a:prstGeom prst="line">
            <a:avLst/>
          </a:prstGeom>
          <a:noFill/>
          <a:ln w="31750">
            <a:solidFill>
              <a:srgbClr val="C4553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477012" y="3064154"/>
            <a:ext cx="233355" cy="199796"/>
          </a:xfrm>
          <a:prstGeom prst="line">
            <a:avLst/>
          </a:prstGeom>
          <a:noFill/>
          <a:ln w="31750">
            <a:solidFill>
              <a:srgbClr val="C4553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543593" y="3322015"/>
            <a:ext cx="1166774" cy="347472"/>
          </a:xfrm>
          <a:prstGeom prst="roundRect">
            <a:avLst>
              <a:gd name="adj" fmla="val 13158"/>
            </a:avLst>
          </a:prstGeom>
          <a:solidFill>
            <a:srgbClr val="FBEFE4"/>
          </a:solidFill>
          <a:ln w="12700">
            <a:solidFill>
              <a:srgbClr val="F08A6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543593" y="3322015"/>
            <a:ext cx="11667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detectado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9870948" y="3913632"/>
            <a:ext cx="512064" cy="512064"/>
          </a:xfrm>
          <a:prstGeom prst="ellipse">
            <a:avLst/>
          </a:prstGeom>
          <a:solidFill>
            <a:srgbClr val="1F7A70"/>
          </a:solidFill>
          <a:ln w="31750">
            <a:solidFill>
              <a:srgbClr val="F5FBF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870948" y="3913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9144000" y="4434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equipo revisa</a:t>
            </a:r>
            <a:endParaRPr lang="en-US" sz="1500" dirty="0"/>
          </a:p>
        </p:txBody>
      </p:sp>
      <p:sp>
        <p:nvSpPr>
          <p:cNvPr id="114" name="Text 112"/>
          <p:cNvSpPr/>
          <p:nvPr/>
        </p:nvSpPr>
        <p:spPr>
          <a:xfrm>
            <a:off x="9125712" y="475488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y alertas en el panel.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JUEGA · 1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Trazo: sigue la línea con el dedo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6309360" cy="4297680"/>
          </a:xfrm>
          <a:prstGeom prst="roundRect">
            <a:avLst>
              <a:gd name="adj" fmla="val 3830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02536"/>
            <a:ext cx="6053328" cy="4041648"/>
          </a:xfrm>
          <a:prstGeom prst="roundRect">
            <a:avLst>
              <a:gd name="adj" fmla="val 1810"/>
            </a:avLst>
          </a:prstGeom>
          <a:solidFill>
            <a:srgbClr val="FFFEFB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22585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2A99B"/>
          </a:solidFill>
          <a:ln/>
        </p:spPr>
      </p:sp>
      <p:sp>
        <p:nvSpPr>
          <p:cNvPr id="7" name="Shape 5"/>
          <p:cNvSpPr/>
          <p:nvPr/>
        </p:nvSpPr>
        <p:spPr>
          <a:xfrm>
            <a:off x="1226576" y="2512040"/>
            <a:ext cx="42245" cy="-92172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8821" y="2419868"/>
            <a:ext cx="46086" cy="69129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4907" y="2488997"/>
            <a:ext cx="38405" cy="-19202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3312" y="2469794"/>
            <a:ext cx="46086" cy="26883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398" y="2496678"/>
            <a:ext cx="38405" cy="-69129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7803" y="2427549"/>
            <a:ext cx="42245" cy="-23043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4686" y="2373782"/>
            <a:ext cx="53767" cy="53767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4" name="Text 12"/>
          <p:cNvSpPr/>
          <p:nvPr/>
        </p:nvSpPr>
        <p:spPr>
          <a:xfrm>
            <a:off x="1636776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18504" y="2276856"/>
            <a:ext cx="384048" cy="384048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9576" y="2825496"/>
            <a:ext cx="5504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la línea con el dedo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08176" y="4545482"/>
            <a:ext cx="84125" cy="-66881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92301" y="4478601"/>
            <a:ext cx="84125" cy="-6635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76426" y="4412249"/>
            <a:ext cx="84125" cy="-65297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660550" y="4346953"/>
            <a:ext cx="84125" cy="-6372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744675" y="4283228"/>
            <a:ext cx="84125" cy="-61648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828800" y="4221579"/>
            <a:ext cx="84125" cy="-59084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912925" y="4162496"/>
            <a:ext cx="84125" cy="-56051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997050" y="4106444"/>
            <a:ext cx="84125" cy="-5257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081174" y="4053869"/>
            <a:ext cx="84125" cy="-48683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165299" y="4005187"/>
            <a:ext cx="84125" cy="-4440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249424" y="3960782"/>
            <a:ext cx="84125" cy="-3977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333549" y="3921007"/>
            <a:ext cx="84125" cy="-34830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417674" y="3886177"/>
            <a:ext cx="84125" cy="-29610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501798" y="3856567"/>
            <a:ext cx="84125" cy="-2415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585923" y="3832411"/>
            <a:ext cx="84125" cy="-18509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670048" y="3813902"/>
            <a:ext cx="84125" cy="-12717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754173" y="3801185"/>
            <a:ext cx="84125" cy="-6824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838298" y="3794362"/>
            <a:ext cx="84125" cy="-876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922422" y="3793485"/>
            <a:ext cx="84125" cy="5078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006547" y="3798563"/>
            <a:ext cx="84125" cy="1099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090672" y="3809555"/>
            <a:ext cx="84125" cy="16819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174797" y="3826374"/>
            <a:ext cx="84125" cy="22513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258922" y="3848887"/>
            <a:ext cx="84125" cy="28028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343046" y="3876915"/>
            <a:ext cx="84125" cy="3332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427171" y="3910237"/>
            <a:ext cx="84125" cy="3835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511296" y="3948588"/>
            <a:ext cx="84125" cy="43078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595421" y="3991666"/>
            <a:ext cx="84125" cy="47463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679546" y="4039129"/>
            <a:ext cx="84125" cy="5147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763670" y="4090601"/>
            <a:ext cx="84125" cy="55074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847795" y="4145675"/>
            <a:ext cx="84125" cy="58239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31920" y="4203914"/>
            <a:ext cx="84125" cy="60944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016045" y="4264858"/>
            <a:ext cx="84125" cy="63166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100170" y="4328024"/>
            <a:ext cx="84125" cy="64888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184294" y="4392912"/>
            <a:ext cx="84125" cy="66096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268419" y="4459007"/>
            <a:ext cx="84125" cy="66780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352544" y="4525788"/>
            <a:ext cx="84125" cy="66936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436669" y="4592724"/>
            <a:ext cx="84125" cy="6656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520794" y="4659286"/>
            <a:ext cx="84125" cy="65661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604918" y="4724947"/>
            <a:ext cx="84125" cy="64240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4689043" y="4789188"/>
            <a:ext cx="84125" cy="62311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4773168" y="4851498"/>
            <a:ext cx="84125" cy="59888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857293" y="4911386"/>
            <a:ext cx="84125" cy="56990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941418" y="4968376"/>
            <a:ext cx="84125" cy="5364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025542" y="5022018"/>
            <a:ext cx="84125" cy="49869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5109667" y="5071887"/>
            <a:ext cx="84125" cy="45701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5193792" y="5117588"/>
            <a:ext cx="84125" cy="41171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5277917" y="5158759"/>
            <a:ext cx="84125" cy="3631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5362042" y="5195074"/>
            <a:ext cx="84125" cy="3117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5446166" y="5226246"/>
            <a:ext cx="84125" cy="2578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5530291" y="5252027"/>
            <a:ext cx="84125" cy="20187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5614416" y="5272214"/>
            <a:ext cx="84125" cy="14433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5698541" y="5286647"/>
            <a:ext cx="84125" cy="856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5782666" y="5295212"/>
            <a:ext cx="84125" cy="2628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5866790" y="5297840"/>
            <a:ext cx="84125" cy="-3329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5950915" y="5294512"/>
            <a:ext cx="84125" cy="-9259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6035040" y="5285252"/>
            <a:ext cx="84125" cy="-15117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6119165" y="5270135"/>
            <a:ext cx="84125" cy="-20855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6203290" y="5249281"/>
            <a:ext cx="84125" cy="-26427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6287414" y="5222854"/>
            <a:ext cx="84125" cy="-31790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6371539" y="5191063"/>
            <a:ext cx="84125" cy="-36902"/>
          </a:xfrm>
          <a:prstGeom prst="line">
            <a:avLst/>
          </a:prstGeom>
          <a:noFill/>
          <a:ln w="69850">
            <a:solidFill>
              <a:srgbClr val="D2E6E2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1408176" y="4545482"/>
            <a:ext cx="78236" cy="-100156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486412" y="4445326"/>
            <a:ext cx="78236" cy="-9837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564648" y="4346953"/>
            <a:ext cx="78236" cy="-9484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42884" y="4252113"/>
            <a:ext cx="78236" cy="-89617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21120" y="4162496"/>
            <a:ext cx="78236" cy="-8280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99356" y="4079696"/>
            <a:ext cx="78236" cy="-74509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77592" y="4005187"/>
            <a:ext cx="78236" cy="-64891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955828" y="3940296"/>
            <a:ext cx="78236" cy="-54119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034065" y="3886177"/>
            <a:ext cx="78236" cy="-4238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112301" y="3843794"/>
            <a:ext cx="78236" cy="-29892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190537" y="3813902"/>
            <a:ext cx="78236" cy="-1687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268773" y="3797032"/>
            <a:ext cx="78236" cy="-3547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47009" y="3793485"/>
            <a:ext cx="78236" cy="9839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425245" y="3803324"/>
            <a:ext cx="78236" cy="2305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03481" y="3826374"/>
            <a:ext cx="78236" cy="3585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581717" y="3862224"/>
            <a:ext cx="78236" cy="4801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59953" y="3910237"/>
            <a:ext cx="78236" cy="5932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38189" y="3969557"/>
            <a:ext cx="78236" cy="69572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16425" y="4039129"/>
            <a:ext cx="78236" cy="78585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894661" y="4117714"/>
            <a:ext cx="78236" cy="8620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72897" y="4203914"/>
            <a:ext cx="78236" cy="92280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051133" y="4296194"/>
            <a:ext cx="78236" cy="96717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129369" y="4392912"/>
            <a:ext cx="78236" cy="9943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07605" y="4492345"/>
            <a:ext cx="78236" cy="100379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285842" y="4592724"/>
            <a:ext cx="78236" cy="99538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364078" y="4692262"/>
            <a:ext cx="78236" cy="96925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42314" y="4789188"/>
            <a:ext cx="78236" cy="92587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20550" y="4881775"/>
            <a:ext cx="78236" cy="86601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98786" y="4968376"/>
            <a:ext cx="78236" cy="7907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77022" y="5047450"/>
            <a:ext cx="78236" cy="70138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755258" y="5117588"/>
            <a:ext cx="78236" cy="59954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33494" y="5177542"/>
            <a:ext cx="78236" cy="4870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911730" y="5226246"/>
            <a:ext cx="78236" cy="36586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89966" y="5262831"/>
            <a:ext cx="78236" cy="23816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068202" y="5286647"/>
            <a:ext cx="78236" cy="1062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46438" y="5297271"/>
            <a:ext cx="78236" cy="-2759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24674" y="5294512"/>
            <a:ext cx="78236" cy="-16092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02910" y="5278420"/>
            <a:ext cx="78236" cy="-29139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81146" y="5249281"/>
            <a:ext cx="78236" cy="-41667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459382" y="5207614"/>
            <a:ext cx="78236" cy="-53453"/>
          </a:xfrm>
          <a:prstGeom prst="line">
            <a:avLst/>
          </a:prstGeom>
          <a:noFill/>
          <a:ln w="63500">
            <a:solidFill>
              <a:srgbClr val="C4553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289304" y="4426610"/>
            <a:ext cx="237744" cy="237744"/>
          </a:xfrm>
          <a:prstGeom prst="ellipse">
            <a:avLst/>
          </a:prstGeom>
          <a:solidFill>
            <a:srgbClr val="1F7A70"/>
          </a:solidFill>
          <a:ln w="25400">
            <a:solidFill>
              <a:srgbClr val="FFFE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3544" y="4746650"/>
            <a:ext cx="502920" cy="310896"/>
          </a:xfrm>
          <a:prstGeom prst="rightArrow">
            <a:avLst/>
          </a:prstGeom>
          <a:solidFill>
            <a:srgbClr val="1F7A70"/>
          </a:solidFill>
          <a:ln/>
        </p:spPr>
      </p:sp>
      <p:sp>
        <p:nvSpPr>
          <p:cNvPr id="119" name="Text 117"/>
          <p:cNvSpPr/>
          <p:nvPr/>
        </p:nvSpPr>
        <p:spPr>
          <a:xfrm>
            <a:off x="859536" y="507583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aquí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7452360" y="2011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TRAZO</a:t>
            </a:r>
            <a:endParaRPr lang="en-US" sz="1200" dirty="0"/>
          </a:p>
        </p:txBody>
      </p:sp>
      <p:sp>
        <p:nvSpPr>
          <p:cNvPr id="121" name="Text 119"/>
          <p:cNvSpPr/>
          <p:nvPr/>
        </p:nvSpPr>
        <p:spPr>
          <a:xfrm>
            <a:off x="7452360" y="23317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Sigue la línea</a:t>
            </a:r>
            <a:endParaRPr lang="en-US" sz="2400" dirty="0"/>
          </a:p>
        </p:txBody>
      </p:sp>
      <p:sp>
        <p:nvSpPr>
          <p:cNvPr id="122" name="Text 120"/>
          <p:cNvSpPr/>
          <p:nvPr/>
        </p:nvSpPr>
        <p:spPr>
          <a:xfrm>
            <a:off x="7452360" y="29718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guía punteada marca el camino. La persona empieza en el punto y la recorre; se corrige sola según cuánto se ajusta.</a:t>
            </a:r>
            <a:endParaRPr lang="en-US" sz="1550" dirty="0"/>
          </a:p>
        </p:txBody>
      </p:sp>
      <p:sp>
        <p:nvSpPr>
          <p:cNvPr id="123" name="Shape 121"/>
          <p:cNvSpPr/>
          <p:nvPr/>
        </p:nvSpPr>
        <p:spPr>
          <a:xfrm>
            <a:off x="7452360" y="429768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708392" y="4526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MIDE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7708392" y="482803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mano-ojo y control motor fino (praxias).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JUEGA · 2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Selección: señala el que no encaja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6309360" cy="4297680"/>
          </a:xfrm>
          <a:prstGeom prst="roundRect">
            <a:avLst>
              <a:gd name="adj" fmla="val 3830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02536"/>
            <a:ext cx="6053328" cy="4041648"/>
          </a:xfrm>
          <a:prstGeom prst="roundRect">
            <a:avLst>
              <a:gd name="adj" fmla="val 1810"/>
            </a:avLst>
          </a:prstGeom>
          <a:solidFill>
            <a:srgbClr val="FFFEFB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22585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2A99B"/>
          </a:solidFill>
          <a:ln/>
        </p:spPr>
      </p:sp>
      <p:sp>
        <p:nvSpPr>
          <p:cNvPr id="7" name="Shape 5"/>
          <p:cNvSpPr/>
          <p:nvPr/>
        </p:nvSpPr>
        <p:spPr>
          <a:xfrm>
            <a:off x="1226576" y="2512040"/>
            <a:ext cx="42245" cy="-92172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8821" y="2419868"/>
            <a:ext cx="46086" cy="69129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4907" y="2488997"/>
            <a:ext cx="38405" cy="-19202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3312" y="2469794"/>
            <a:ext cx="46086" cy="26883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398" y="2496678"/>
            <a:ext cx="38405" cy="-69129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7803" y="2427549"/>
            <a:ext cx="42245" cy="-23043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4686" y="2373782"/>
            <a:ext cx="53767" cy="53767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4" name="Text 12"/>
          <p:cNvSpPr/>
          <p:nvPr/>
        </p:nvSpPr>
        <p:spPr>
          <a:xfrm>
            <a:off x="1636776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18504" y="2276856"/>
            <a:ext cx="384048" cy="384048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9576" y="2825496"/>
            <a:ext cx="5504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no es una fruta como las demás?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79576" y="3328416"/>
            <a:ext cx="2569464" cy="923544"/>
          </a:xfrm>
          <a:prstGeom prst="roundRect">
            <a:avLst>
              <a:gd name="adj" fmla="val 9901"/>
            </a:avLst>
          </a:prstGeom>
          <a:solidFill>
            <a:srgbClr val="FFFEFB"/>
          </a:solidFill>
          <a:ln w="15240">
            <a:solidFill>
              <a:srgbClr val="D2E6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2657" y="3659977"/>
            <a:ext cx="443301" cy="443301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9" name="Shape 17"/>
          <p:cNvSpPr/>
          <p:nvPr/>
        </p:nvSpPr>
        <p:spPr>
          <a:xfrm rot="20400000">
            <a:off x="2486473" y="3549152"/>
            <a:ext cx="243816" cy="132990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20" name="Shape 18"/>
          <p:cNvSpPr/>
          <p:nvPr/>
        </p:nvSpPr>
        <p:spPr>
          <a:xfrm>
            <a:off x="2464308" y="3626730"/>
            <a:ext cx="0" cy="110825"/>
          </a:xfrm>
          <a:prstGeom prst="line">
            <a:avLst/>
          </a:prstGeom>
          <a:noFill/>
          <a:ln w="17780">
            <a:solidFill>
              <a:srgbClr val="8A56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328416"/>
            <a:ext cx="2569464" cy="923544"/>
          </a:xfrm>
          <a:prstGeom prst="roundRect">
            <a:avLst>
              <a:gd name="adj" fmla="val 9901"/>
            </a:avLst>
          </a:prstGeom>
          <a:solidFill>
            <a:srgbClr val="FFFEFB"/>
          </a:solidFill>
          <a:ln w="15240">
            <a:solidFill>
              <a:srgbClr val="D2E6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77881" y="3659977"/>
            <a:ext cx="443301" cy="443301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3" name="Shape 21"/>
          <p:cNvSpPr/>
          <p:nvPr/>
        </p:nvSpPr>
        <p:spPr>
          <a:xfrm rot="20400000">
            <a:off x="5421697" y="3549152"/>
            <a:ext cx="243816" cy="132990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9532" y="3626730"/>
            <a:ext cx="0" cy="110825"/>
          </a:xfrm>
          <a:prstGeom prst="line">
            <a:avLst/>
          </a:prstGeom>
          <a:noFill/>
          <a:ln w="17780">
            <a:solidFill>
              <a:srgbClr val="8A56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9576" y="4617720"/>
            <a:ext cx="2569464" cy="923544"/>
          </a:xfrm>
          <a:prstGeom prst="roundRect">
            <a:avLst>
              <a:gd name="adj" fmla="val 9901"/>
            </a:avLst>
          </a:prstGeom>
          <a:solidFill>
            <a:srgbClr val="FFFEFB"/>
          </a:solidFill>
          <a:ln w="15240">
            <a:solidFill>
              <a:srgbClr val="D2E6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2657" y="4949281"/>
            <a:ext cx="443301" cy="443301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7" name="Shape 25"/>
          <p:cNvSpPr/>
          <p:nvPr/>
        </p:nvSpPr>
        <p:spPr>
          <a:xfrm rot="20400000">
            <a:off x="2486473" y="4838456"/>
            <a:ext cx="243816" cy="132990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28" name="Shape 26"/>
          <p:cNvSpPr/>
          <p:nvPr/>
        </p:nvSpPr>
        <p:spPr>
          <a:xfrm>
            <a:off x="2464308" y="4916034"/>
            <a:ext cx="0" cy="110825"/>
          </a:xfrm>
          <a:prstGeom prst="line">
            <a:avLst/>
          </a:prstGeom>
          <a:noFill/>
          <a:ln w="17780">
            <a:solidFill>
              <a:srgbClr val="8A56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4617720"/>
            <a:ext cx="2569464" cy="923544"/>
          </a:xfrm>
          <a:prstGeom prst="roundRect">
            <a:avLst>
              <a:gd name="adj" fmla="val 9901"/>
            </a:avLst>
          </a:prstGeom>
          <a:solidFill>
            <a:srgbClr val="FFFEFB"/>
          </a:solidFill>
          <a:ln w="44450">
            <a:solidFill>
              <a:srgbClr val="1F7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4900" y="4512564"/>
            <a:ext cx="969264" cy="457200"/>
          </a:xfrm>
          <a:prstGeom prst="triangle">
            <a:avLst/>
          </a:prstGeom>
          <a:solidFill>
            <a:srgbClr val="C4553A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8052" y="4969764"/>
            <a:ext cx="822960" cy="566928"/>
          </a:xfrm>
          <a:prstGeom prst="rect">
            <a:avLst/>
          </a:prstGeom>
          <a:solidFill>
            <a:srgbClr val="E3C24F"/>
          </a:solidFill>
          <a:ln w="19050">
            <a:solidFill>
              <a:srgbClr val="C69A3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89804" y="5189220"/>
            <a:ext cx="219456" cy="347472"/>
          </a:xfrm>
          <a:prstGeom prst="rect">
            <a:avLst/>
          </a:prstGeom>
          <a:solidFill>
            <a:srgbClr val="8A562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4709160"/>
            <a:ext cx="310896" cy="310896"/>
          </a:xfrm>
          <a:prstGeom prst="ellipse">
            <a:avLst/>
          </a:prstGeom>
          <a:solidFill>
            <a:srgbClr val="1F7A70"/>
          </a:solidFill>
          <a:ln w="19050">
            <a:solidFill>
              <a:srgbClr val="FFFE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4709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52360" y="2011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SELECCIÓN MÚLTIPLE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52360" y="23317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intruso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452360" y="29718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rejilla de tarjetas con figuras reconocibles. La persona toca la que no pertenece al grupo; la respuesta correcta queda marcada.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7452360" y="429768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08392" y="4526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08392" y="482803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y categorización.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JUEGA · 3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Dinero: guarda las monedas y suma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6309360" cy="4297680"/>
          </a:xfrm>
          <a:prstGeom prst="roundRect">
            <a:avLst>
              <a:gd name="adj" fmla="val 3830"/>
            </a:avLst>
          </a:prstGeom>
          <a:solidFill>
            <a:srgbClr val="1F2B24"/>
          </a:solidFill>
          <a:ln/>
          <a:effectLst>
            <a:outerShdw sx="100000" sy="100000" kx="0" ky="0" algn="bl" rotWithShape="0" blurRad="127000" dist="63500" dir="5400000">
              <a:srgbClr val="0B151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02536"/>
            <a:ext cx="6053328" cy="4041648"/>
          </a:xfrm>
          <a:prstGeom prst="roundRect">
            <a:avLst>
              <a:gd name="adj" fmla="val 1810"/>
            </a:avLst>
          </a:prstGeom>
          <a:solidFill>
            <a:srgbClr val="FFFEFB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22585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2A99B"/>
          </a:solidFill>
          <a:ln/>
        </p:spPr>
      </p:sp>
      <p:sp>
        <p:nvSpPr>
          <p:cNvPr id="7" name="Shape 5"/>
          <p:cNvSpPr/>
          <p:nvPr/>
        </p:nvSpPr>
        <p:spPr>
          <a:xfrm>
            <a:off x="1226576" y="2512040"/>
            <a:ext cx="42245" cy="-92172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8821" y="2419868"/>
            <a:ext cx="46086" cy="69129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4907" y="2488997"/>
            <a:ext cx="38405" cy="-19202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3312" y="2469794"/>
            <a:ext cx="46086" cy="26883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398" y="2496678"/>
            <a:ext cx="38405" cy="-69129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7803" y="2427549"/>
            <a:ext cx="42245" cy="-23043"/>
          </a:xfrm>
          <a:prstGeom prst="line">
            <a:avLst/>
          </a:prstGeom>
          <a:noFill/>
          <a:ln w="19050">
            <a:solidFill>
              <a:srgbClr val="FFF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4686" y="2373782"/>
            <a:ext cx="53767" cy="53767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4" name="Text 12"/>
          <p:cNvSpPr/>
          <p:nvPr/>
        </p:nvSpPr>
        <p:spPr>
          <a:xfrm>
            <a:off x="1636776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18504" y="2276856"/>
            <a:ext cx="384048" cy="384048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9576" y="2825496"/>
            <a:ext cx="5504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las monedas en el monedero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08176" y="3977640"/>
            <a:ext cx="914400" cy="914400"/>
          </a:xfrm>
          <a:prstGeom prst="ellipse">
            <a:avLst/>
          </a:prstGeom>
          <a:solidFill>
            <a:srgbClr val="E3B84F"/>
          </a:solidFill>
          <a:ln w="19050">
            <a:solidFill>
              <a:srgbClr val="C69A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912" y="4151376"/>
            <a:ext cx="566928" cy="566928"/>
          </a:xfrm>
          <a:prstGeom prst="ellipse">
            <a:avLst/>
          </a:prstGeom>
          <a:solidFill>
            <a:srgbClr val="CBD1D8"/>
          </a:solidFill>
          <a:ln/>
        </p:spPr>
      </p:sp>
      <p:sp>
        <p:nvSpPr>
          <p:cNvPr id="19" name="Text 17"/>
          <p:cNvSpPr/>
          <p:nvPr/>
        </p:nvSpPr>
        <p:spPr>
          <a:xfrm>
            <a:off x="1408176" y="41833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56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2€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2596896" y="4251960"/>
            <a:ext cx="731520" cy="731520"/>
          </a:xfrm>
          <a:prstGeom prst="ellipse">
            <a:avLst/>
          </a:prstGeom>
          <a:solidFill>
            <a:srgbClr val="E3B84F"/>
          </a:solidFill>
          <a:ln w="19050">
            <a:solidFill>
              <a:srgbClr val="C69A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35885" y="4390949"/>
            <a:ext cx="453542" cy="453542"/>
          </a:xfrm>
          <a:prstGeom prst="ellipse">
            <a:avLst/>
          </a:prstGeom>
          <a:solidFill>
            <a:srgbClr val="CBD1D8"/>
          </a:solidFill>
          <a:ln/>
        </p:spPr>
      </p:sp>
      <p:sp>
        <p:nvSpPr>
          <p:cNvPr id="22" name="Text 20"/>
          <p:cNvSpPr/>
          <p:nvPr/>
        </p:nvSpPr>
        <p:spPr>
          <a:xfrm>
            <a:off x="2596896" y="4416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8A56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1€</a:t>
            </a:r>
            <a:endParaRPr lang="en-US" sz="2160" dirty="0"/>
          </a:p>
        </p:txBody>
      </p:sp>
      <p:sp>
        <p:nvSpPr>
          <p:cNvPr id="23" name="Shape 21"/>
          <p:cNvSpPr/>
          <p:nvPr/>
        </p:nvSpPr>
        <p:spPr>
          <a:xfrm>
            <a:off x="3648456" y="4325112"/>
            <a:ext cx="548640" cy="365760"/>
          </a:xfrm>
          <a:prstGeom prst="rightArrow">
            <a:avLst/>
          </a:prstGeom>
          <a:solidFill>
            <a:srgbClr val="1F7A70"/>
          </a:solidFill>
          <a:ln/>
        </p:spPr>
      </p:sp>
      <p:sp>
        <p:nvSpPr>
          <p:cNvPr id="24" name="Shape 22"/>
          <p:cNvSpPr/>
          <p:nvPr/>
        </p:nvSpPr>
        <p:spPr>
          <a:xfrm>
            <a:off x="4425696" y="3931920"/>
            <a:ext cx="1554480" cy="1143000"/>
          </a:xfrm>
          <a:prstGeom prst="roundRect">
            <a:avLst>
              <a:gd name="adj" fmla="val 28000"/>
            </a:avLst>
          </a:prstGeom>
          <a:solidFill>
            <a:srgbClr val="B0703B"/>
          </a:solidFill>
          <a:ln w="25400">
            <a:solidFill>
              <a:srgbClr val="8A56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1768" y="3886200"/>
            <a:ext cx="402336" cy="274320"/>
          </a:xfrm>
          <a:prstGeom prst="roundRect">
            <a:avLst>
              <a:gd name="adj" fmla="val 20000"/>
            </a:avLst>
          </a:prstGeom>
          <a:solidFill>
            <a:srgbClr val="E3B84F"/>
          </a:solidFill>
          <a:ln w="19050">
            <a:solidFill>
              <a:srgbClr val="C69A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5449824"/>
            <a:ext cx="2011680" cy="566928"/>
          </a:xfrm>
          <a:prstGeom prst="roundRect">
            <a:avLst>
              <a:gd name="adj" fmla="val 19355"/>
            </a:avLst>
          </a:prstGeom>
          <a:solidFill>
            <a:srgbClr val="E8F5F2"/>
          </a:solidFill>
          <a:ln w="19050">
            <a:solidFill>
              <a:srgbClr val="12A9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54498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7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Llevas: 3 €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452360" y="2011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MANEJO DE CANTIDAD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52360" y="23317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Manejo de dinero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452360" y="29718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 de euro reconocibles. La persona las lleva al monedero y el importe acumulado se va sumando a la vista.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452360" y="429768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E8F5F2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8392" y="4526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08392" y="482803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básico y autonomía en la vida diaria.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EJERCICIOS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Ocho plantillas, unas 1010 actividades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7180" y="1874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" y="2130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6" name="Text 4"/>
          <p:cNvSpPr/>
          <p:nvPr/>
        </p:nvSpPr>
        <p:spPr>
          <a:xfrm>
            <a:off x="553212" y="2130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4924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Trazo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4924" y="3264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motor fino (praxias)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78124" y="1874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4156" y="2130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11" name="Text 9"/>
          <p:cNvSpPr/>
          <p:nvPr/>
        </p:nvSpPr>
        <p:spPr>
          <a:xfrm>
            <a:off x="3534156" y="2130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15868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Selección múltiple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15868" y="3264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Razonar y categorizar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9068" y="1874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5100" y="2130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15100" y="2130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6812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Memoria visual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6812" y="3264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y recordar figuras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40012" y="1874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044" y="2130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9496044" y="2130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77756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Búsqueda visual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77756" y="3264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y percepción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7180" y="4160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" y="4416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" y="4416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4924" y="5166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Secuencia · ordenar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" y="5550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una secuencia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78124" y="4160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34156" y="4416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31" name="Text 29"/>
          <p:cNvSpPr/>
          <p:nvPr/>
        </p:nvSpPr>
        <p:spPr>
          <a:xfrm>
            <a:off x="3534156" y="4416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515868" y="5166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Arrastrar por toque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15868" y="5550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cada cosa en su sitio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59068" y="4160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5100" y="4416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36" name="Text 34"/>
          <p:cNvSpPr/>
          <p:nvPr/>
        </p:nvSpPr>
        <p:spPr>
          <a:xfrm>
            <a:off x="6515100" y="4416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496812" y="5166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Conteo · comparación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6812" y="5550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numérica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240012" y="41605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6044" y="44165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F5F2"/>
          </a:solidFill>
          <a:ln/>
        </p:spPr>
      </p:sp>
      <p:sp>
        <p:nvSpPr>
          <p:cNvPr id="41" name="Text 39"/>
          <p:cNvSpPr/>
          <p:nvPr/>
        </p:nvSpPr>
        <p:spPr>
          <a:xfrm>
            <a:off x="9496044" y="4416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💶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477756" y="5166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Manejo de cantidad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477756" y="5550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y reloj · vida diaria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DEL CENTRO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89611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Ves cómo evoluciona cada persona — y te avisa si algo cambia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6766560" cy="4206240"/>
          </a:xfrm>
          <a:prstGeom prst="roundRect">
            <a:avLst>
              <a:gd name="adj" fmla="val 3043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  <a:effectLst>
            <a:outerShdw sx="100000" sy="100000" kx="0" ky="0" algn="bl" rotWithShape="0" blurRad="127000" dist="50800" dir="5400000">
              <a:srgbClr val="BBCFC9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Carmen 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166360" y="22037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A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8 semanas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624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· comparado con su propia base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80160" y="4039362"/>
            <a:ext cx="5760720" cy="0"/>
          </a:xfrm>
          <a:prstGeom prst="line">
            <a:avLst/>
          </a:prstGeom>
          <a:noFill/>
          <a:ln w="12700">
            <a:solidFill>
              <a:srgbClr val="D2E6E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280160" y="3842766"/>
            <a:ext cx="921715" cy="-137617"/>
          </a:xfrm>
          <a:prstGeom prst="line">
            <a:avLst/>
          </a:prstGeom>
          <a:noFill/>
          <a:ln w="38100">
            <a:solidFill>
              <a:srgbClr val="12A9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1875" y="3705149"/>
            <a:ext cx="921715" cy="39319"/>
          </a:xfrm>
          <a:prstGeom prst="line">
            <a:avLst/>
          </a:prstGeom>
          <a:noFill/>
          <a:ln w="38100">
            <a:solidFill>
              <a:srgbClr val="12A9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3590" y="3744468"/>
            <a:ext cx="921715" cy="-117958"/>
          </a:xfrm>
          <a:prstGeom prst="line">
            <a:avLst/>
          </a:prstGeom>
          <a:noFill/>
          <a:ln w="38100">
            <a:solidFill>
              <a:srgbClr val="12A9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45306" y="3626510"/>
            <a:ext cx="921715" cy="58979"/>
          </a:xfrm>
          <a:prstGeom prst="line">
            <a:avLst/>
          </a:prstGeom>
          <a:noFill/>
          <a:ln w="38100">
            <a:solidFill>
              <a:srgbClr val="12A9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7021" y="3685489"/>
            <a:ext cx="806501" cy="-19660"/>
          </a:xfrm>
          <a:prstGeom prst="line">
            <a:avLst/>
          </a:prstGeom>
          <a:noFill/>
          <a:ln w="38100">
            <a:solidFill>
              <a:srgbClr val="12A9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3522" y="3665830"/>
            <a:ext cx="691286" cy="90434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4570171"/>
            <a:ext cx="576072" cy="393192"/>
          </a:xfrm>
          <a:prstGeom prst="line">
            <a:avLst/>
          </a:prstGeom>
          <a:noFill/>
          <a:ln w="38100">
            <a:solidFill>
              <a:srgbClr val="C455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7008" y="3769614"/>
            <a:ext cx="146304" cy="146304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17" name="Shape 15"/>
          <p:cNvSpPr/>
          <p:nvPr/>
        </p:nvSpPr>
        <p:spPr>
          <a:xfrm>
            <a:off x="2128723" y="3631997"/>
            <a:ext cx="146304" cy="146304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18" name="Shape 16"/>
          <p:cNvSpPr/>
          <p:nvPr/>
        </p:nvSpPr>
        <p:spPr>
          <a:xfrm>
            <a:off x="3050438" y="3671316"/>
            <a:ext cx="146304" cy="146304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19" name="Shape 17"/>
          <p:cNvSpPr/>
          <p:nvPr/>
        </p:nvSpPr>
        <p:spPr>
          <a:xfrm>
            <a:off x="3972154" y="3553358"/>
            <a:ext cx="146304" cy="146304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3869" y="3612337"/>
            <a:ext cx="146304" cy="146304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21" name="Shape 19"/>
          <p:cNvSpPr/>
          <p:nvPr/>
        </p:nvSpPr>
        <p:spPr>
          <a:xfrm>
            <a:off x="5700370" y="3592678"/>
            <a:ext cx="146304" cy="146304"/>
          </a:xfrm>
          <a:prstGeom prst="ellipse">
            <a:avLst/>
          </a:prstGeom>
          <a:solidFill>
            <a:srgbClr val="12A99B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4224" y="4469587"/>
            <a:ext cx="201168" cy="201168"/>
          </a:xfrm>
          <a:prstGeom prst="ellipse">
            <a:avLst/>
          </a:prstGeom>
          <a:solidFill>
            <a:srgbClr val="C455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0296" y="4862779"/>
            <a:ext cx="201168" cy="201168"/>
          </a:xfrm>
          <a:prstGeom prst="ellipse">
            <a:avLst/>
          </a:prstGeom>
          <a:solidFill>
            <a:srgbClr val="C455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5120640"/>
            <a:ext cx="6035040" cy="685800"/>
          </a:xfrm>
          <a:prstGeom prst="roundRect">
            <a:avLst>
              <a:gd name="adj" fmla="val 13333"/>
            </a:avLst>
          </a:prstGeom>
          <a:solidFill>
            <a:srgbClr val="FBEFE4"/>
          </a:solidFill>
          <a:ln w="15240">
            <a:solidFill>
              <a:srgbClr val="F08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44168" y="5367528"/>
            <a:ext cx="164592" cy="164592"/>
          </a:xfrm>
          <a:prstGeom prst="ellipse">
            <a:avLst/>
          </a:prstGeom>
          <a:solidFill>
            <a:srgbClr val="C4553A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52303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detectado estas 2 sesiones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45920" y="54864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sale de su rango habitual — conviene revisarlo con calma. No es un diagnóstico.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1993392"/>
            <a:ext cx="256032" cy="256032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29" name="Shape 27"/>
          <p:cNvSpPr/>
          <p:nvPr/>
        </p:nvSpPr>
        <p:spPr>
          <a:xfrm>
            <a:off x="8037576" y="2075688"/>
            <a:ext cx="91440" cy="91440"/>
          </a:xfrm>
          <a:prstGeom prst="ellipse">
            <a:avLst/>
          </a:prstGeom>
          <a:solidFill>
            <a:srgbClr val="FFFEFB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Nace “sin valorar”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66760" y="2240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puntúa hasta que el equipo lo revisa. No tocar nada no es fallar.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55280" y="3044952"/>
            <a:ext cx="256032" cy="256032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33" name="Shape 31"/>
          <p:cNvSpPr/>
          <p:nvPr/>
        </p:nvSpPr>
        <p:spPr>
          <a:xfrm>
            <a:off x="8037576" y="3127248"/>
            <a:ext cx="91440" cy="91440"/>
          </a:xfrm>
          <a:prstGeom prst="ellipse">
            <a:avLst/>
          </a:prstGeom>
          <a:solidFill>
            <a:srgbClr val="FFFEFB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29718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Cada persona, consigo misma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6676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con su propio histórico, nunca con otras.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955280" y="4096512"/>
            <a:ext cx="256032" cy="256032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37" name="Shape 35"/>
          <p:cNvSpPr/>
          <p:nvPr/>
        </p:nvSpPr>
        <p:spPr>
          <a:xfrm>
            <a:off x="8037576" y="4178808"/>
            <a:ext cx="91440" cy="91440"/>
          </a:xfrm>
          <a:prstGeom prst="ellipse">
            <a:avLst/>
          </a:prstGeom>
          <a:solidFill>
            <a:srgbClr val="FFFEFB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4023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Avisa de cambios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66760" y="4343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baja de forma sostenida, salta una alerta suave.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55280" y="5148072"/>
            <a:ext cx="256032" cy="256032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41" name="Shape 39"/>
          <p:cNvSpPr/>
          <p:nvPr/>
        </p:nvSpPr>
        <p:spPr>
          <a:xfrm>
            <a:off x="8037576" y="5230368"/>
            <a:ext cx="91440" cy="91440"/>
          </a:xfrm>
          <a:prstGeom prst="ellipse">
            <a:avLst/>
          </a:prstGeom>
          <a:solidFill>
            <a:srgbClr val="FFFEFB"/>
          </a:solidFill>
          <a:ln/>
        </p:spPr>
      </p:sp>
      <p:sp>
        <p:nvSpPr>
          <p:cNvPr id="42" name="Text 40"/>
          <p:cNvSpPr/>
          <p:nvPr/>
        </p:nvSpPr>
        <p:spPr>
          <a:xfrm>
            <a:off x="8366760" y="5074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es diagnóstico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366760" y="5394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desempeño en las actividades. No es producto sanitario.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Y DIGNIDAD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8961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Pensado para la persona usuaria más frágil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212848"/>
            <a:ext cx="658368" cy="6583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2128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91056" y="223113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Objetivos táctiles grandes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971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amplios; nada diminuto que cueste acertar.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2212848"/>
            <a:ext cx="658368" cy="6583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2128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31536" y="223113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Alto contraste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2971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legible con baja visión (contraste ≥ 4.5:1).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9056" y="2212848"/>
            <a:ext cx="658368" cy="6583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2128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72016" y="223113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Háptico y voz alta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2971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Vibración en cada toque y locución del enunciado.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" y="40690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4361688"/>
            <a:ext cx="658368" cy="6583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3616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⛶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91056" y="437997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 menús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" y="51206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actividad a pantalla completa; nadie se queda atrapado.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34256" y="40690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4361688"/>
            <a:ext cx="658368" cy="6583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3616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31536" y="437997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Funciona sin conexión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08576" y="51206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cuando vuelve la red; no depende de wifi.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74736" y="40690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49056" y="4361688"/>
            <a:ext cx="658368" cy="658368"/>
          </a:xfrm>
          <a:prstGeom prst="ellipse">
            <a:avLst/>
          </a:prstGeom>
          <a:solidFill>
            <a:srgbClr val="1F7A70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43616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272016" y="437997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Datos protegidos (RGPD)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49056" y="51206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Pseudonimizado; el nombre real se guarda aparte.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8961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modelo claro, todo el equipo incluido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del centro entra completo: terapeutas ocupacionales, integradoras sociales y psicología, sin límite de profesionales.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" y="2377440"/>
            <a:ext cx="3429000" cy="3794760"/>
          </a:xfrm>
          <a:prstGeom prst="roundRect">
            <a:avLst>
              <a:gd name="adj" fmla="val 4267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" y="303580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0 €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05256" y="36758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empezar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5256" y="4114800"/>
            <a:ext cx="26517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personas usuarias reales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formación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permanencia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9976" y="2194560"/>
            <a:ext cx="3429000" cy="4160520"/>
          </a:xfrm>
          <a:prstGeom prst="roundRect">
            <a:avLst>
              <a:gd name="adj" fmla="val 4267"/>
            </a:avLst>
          </a:prstGeom>
          <a:solidFill>
            <a:srgbClr val="FFFEFB"/>
          </a:solidFill>
          <a:ln w="38100">
            <a:solidFill>
              <a:srgbClr val="12A99B"/>
            </a:solidFill>
            <a:prstDash val="solid"/>
          </a:ln>
          <a:effectLst>
            <a:outerShdw sx="100000" sy="100000" kx="0" ky="0" algn="bl" rotWithShape="0" blurRad="152400" dist="63500" dir="5400000">
              <a:srgbClr val="AFCEC8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17236" y="20116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F7A70"/>
          </a:solidFill>
          <a:ln/>
        </p:spPr>
      </p:sp>
      <p:sp>
        <p:nvSpPr>
          <p:cNvPr id="12" name="Text 10"/>
          <p:cNvSpPr/>
          <p:nvPr/>
        </p:nvSpPr>
        <p:spPr>
          <a:xfrm>
            <a:off x="5317236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5736" y="25603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8529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125 € / mes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45736" y="34930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centro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45736" y="3931920"/>
            <a:ext cx="26517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 incluido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de profesionales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personas activas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de más: +3 €/mes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0456" y="2377440"/>
            <a:ext cx="3429000" cy="3794760"/>
          </a:xfrm>
          <a:prstGeom prst="roundRect">
            <a:avLst>
              <a:gd name="adj" fmla="val 4267"/>
            </a:avLst>
          </a:prstGeom>
          <a:solidFill>
            <a:srgbClr val="FFFEFB"/>
          </a:solidFill>
          <a:ln w="12700">
            <a:solidFill>
              <a:srgbClr val="D2E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86216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86216" y="303580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medida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86216" y="36758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centros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86216" y="4114800"/>
            <a:ext cx="26517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cadenas y redes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consolidada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3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dedicado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7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371600"/>
            <a:ext cx="1097280" cy="1097280"/>
          </a:xfrm>
          <a:prstGeom prst="roundRect">
            <a:avLst>
              <a:gd name="adj" fmla="val 28000"/>
            </a:avLst>
          </a:prstGeom>
          <a:solidFill>
            <a:srgbClr val="12A99B"/>
          </a:solidFill>
          <a:ln/>
        </p:spPr>
      </p:sp>
      <p:sp>
        <p:nvSpPr>
          <p:cNvPr id="3" name="Shape 1"/>
          <p:cNvSpPr/>
          <p:nvPr/>
        </p:nvSpPr>
        <p:spPr>
          <a:xfrm>
            <a:off x="5732374" y="2095805"/>
            <a:ext cx="120701" cy="-263347"/>
          </a:xfrm>
          <a:prstGeom prst="line">
            <a:avLst/>
          </a:prstGeom>
          <a:noFill/>
          <a:ln w="45720">
            <a:solidFill>
              <a:srgbClr val="FFFE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3074" y="1832458"/>
            <a:ext cx="131674" cy="197510"/>
          </a:xfrm>
          <a:prstGeom prst="line">
            <a:avLst/>
          </a:prstGeom>
          <a:noFill/>
          <a:ln w="45720">
            <a:solidFill>
              <a:srgbClr val="FFF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4748" y="2029968"/>
            <a:ext cx="109728" cy="-54864"/>
          </a:xfrm>
          <a:prstGeom prst="line">
            <a:avLst/>
          </a:prstGeom>
          <a:noFill/>
          <a:ln w="45720">
            <a:solidFill>
              <a:srgbClr val="FFF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1975104"/>
            <a:ext cx="131674" cy="76810"/>
          </a:xfrm>
          <a:prstGeom prst="line">
            <a:avLst/>
          </a:prstGeom>
          <a:noFill/>
          <a:ln w="45720">
            <a:solidFill>
              <a:srgbClr val="FFFE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26150" y="2051914"/>
            <a:ext cx="109728" cy="-197510"/>
          </a:xfrm>
          <a:prstGeom prst="line">
            <a:avLst/>
          </a:prstGeom>
          <a:noFill/>
          <a:ln w="45720">
            <a:solidFill>
              <a:srgbClr val="FFF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35878" y="1854403"/>
            <a:ext cx="120701" cy="-65837"/>
          </a:xfrm>
          <a:prstGeom prst="line">
            <a:avLst/>
          </a:prstGeom>
          <a:noFill/>
          <a:ln w="45720">
            <a:solidFill>
              <a:srgbClr val="FFF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2687" y="1700784"/>
            <a:ext cx="153619" cy="153619"/>
          </a:xfrm>
          <a:prstGeom prst="ellipse">
            <a:avLst/>
          </a:prstGeom>
          <a:solidFill>
            <a:srgbClr val="F08A6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E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Solicita una demo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piloto sin coste, con personas usuarias reales y sin permanencia.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91356" y="4617720"/>
            <a:ext cx="4206240" cy="658368"/>
          </a:xfrm>
          <a:prstGeom prst="roundRect">
            <a:avLst>
              <a:gd name="adj" fmla="val 50000"/>
            </a:avLst>
          </a:prstGeom>
          <a:solidFill>
            <a:srgbClr val="17635B"/>
          </a:solidFill>
          <a:ln w="12700">
            <a:solidFill>
              <a:srgbClr val="3E91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1356" y="46177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saulodlsf@gmail.com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C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 · estimulación cognitiva para centros de día y residencias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2026-08-25T14:49:18Z</dcterms:created>
  <dcterms:modified xsi:type="dcterms:W3CDTF">2026-08-25T14:49:18Z</dcterms:modified>
</cp:coreProperties>
</file>